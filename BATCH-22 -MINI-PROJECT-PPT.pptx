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59" r:id="rId4"/>
    <p:sldId id="260" r:id="rId5"/>
    <p:sldId id="264" r:id="rId6"/>
    <p:sldId id="265" r:id="rId7"/>
    <p:sldId id="266" r:id="rId8"/>
    <p:sldId id="263" r:id="rId9"/>
    <p:sldId id="267" r:id="rId10"/>
    <p:sldId id="273" r:id="rId11"/>
    <p:sldId id="275" r:id="rId12"/>
    <p:sldId id="262" r:id="rId13"/>
    <p:sldId id="285" r:id="rId14"/>
    <p:sldId id="286" r:id="rId15"/>
    <p:sldId id="287" r:id="rId16"/>
    <p:sldId id="28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6F9B162-5B60-44F1-B601-E37CCBDC7045}" type="datetimeFigureOut">
              <a:rPr lang="en-IN" smtClean="0"/>
              <a:t>25-04-2026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547BA6-1C66-4C2E-9545-2E8AE6B1DF51}"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6F9B162-5B60-44F1-B601-E37CCBDC7045}" type="datetimeFigureOut">
              <a:rPr lang="en-IN" smtClean="0"/>
              <a:t>25-04-2026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547BA6-1C66-4C2E-9545-2E8AE6B1DF51}"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F9B162-5B60-44F1-B601-E37CCBDC7045}" type="datetimeFigureOut">
              <a:rPr lang="en-IN" smtClean="0"/>
              <a:t>25-04-2026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547BA6-1C66-4C2E-9545-2E8AE6B1DF51}"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6F9B162-5B60-44F1-B601-E37CCBDC7045}" type="datetimeFigureOut">
              <a:rPr lang="en-IN" smtClean="0"/>
              <a:t>25-04-2026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7547BA6-1C66-4C2E-9545-2E8AE6B1DF51}"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86F9B162-5B60-44F1-B601-E37CCBDC7045}" type="datetimeFigureOut">
              <a:rPr lang="en-IN" smtClean="0"/>
              <a:t>25-04-2026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7547BA6-1C66-4C2E-9545-2E8AE6B1DF51}"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6F9B162-5B60-44F1-B601-E37CCBDC7045}" type="datetimeFigureOut">
              <a:rPr lang="en-IN" smtClean="0"/>
              <a:t>25-04-2026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7547BA6-1C66-4C2E-9545-2E8AE6B1DF51}"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F9B162-5B60-44F1-B601-E37CCBDC7045}" type="datetimeFigureOut">
              <a:rPr lang="en-IN" smtClean="0"/>
              <a:t>25-04-2026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7547BA6-1C66-4C2E-9545-2E8AE6B1DF51}"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F9B162-5B60-44F1-B601-E37CCBDC7045}" type="datetimeFigureOut">
              <a:rPr lang="en-IN" smtClean="0"/>
              <a:t>25-04-2026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7547BA6-1C66-4C2E-9545-2E8AE6B1DF51}"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F9B162-5B60-44F1-B601-E37CCBDC7045}" type="datetimeFigureOut">
              <a:rPr lang="en-IN" smtClean="0"/>
              <a:t>25-04-2026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7547BA6-1C66-4C2E-9545-2E8AE6B1DF51}"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6F9B162-5B60-44F1-B601-E37CCBDC7045}" type="datetimeFigureOut">
              <a:rPr lang="en-IN" smtClean="0"/>
              <a:t>25-04-2026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547BA6-1C66-4C2E-9545-2E8AE6B1DF51}"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6F9B162-5B60-44F1-B601-E37CCBDC7045}" type="datetimeFigureOut">
              <a:rPr lang="en-IN" smtClean="0"/>
              <a:t>25-04-2026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547BA6-1C66-4C2E-9545-2E8AE6B1DF51}"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F9B162-5B60-44F1-B601-E37CCBDC7045}" type="datetimeFigureOut">
              <a:rPr lang="en-IN" smtClean="0"/>
              <a:t>25-04-2026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547BA6-1C66-4C2E-9545-2E8AE6B1DF51}"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hyperlink" Target="https://doi.org/10.1145/2494266.2494291" TargetMode="External"/><Relationship Id="rId2" Type="http://schemas.openxmlformats.org/officeDocument/2006/relationships/hyperlink" Target="https://doi.org/10.1016/j.eswa.2012.03.011" TargetMode="External"/><Relationship Id="rId1" Type="http://schemas.openxmlformats.org/officeDocument/2006/relationships/slideLayout" Target="../slideLayouts/slideLayout6.xml"/><Relationship Id="rId5" Type="http://schemas.openxmlformats.org/officeDocument/2006/relationships/hyperlink" Target="https://doi.org/10.1145/3054920" TargetMode="External"/><Relationship Id="rId4" Type="http://schemas.openxmlformats.org/officeDocument/2006/relationships/hyperlink" Target="https://doi.org/10.5120/ijca2015906499"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26724" y="167148"/>
            <a:ext cx="8487081" cy="697404"/>
          </a:xfrm>
          <a:solidFill>
            <a:schemeClr val="accent6">
              <a:lumMod val="60000"/>
              <a:lumOff val="40000"/>
            </a:schemeClr>
          </a:solidFill>
        </p:spPr>
        <p:txBody>
          <a:bodyPr>
            <a:normAutofit/>
          </a:bodyPr>
          <a:lstStyle/>
          <a:p>
            <a:r>
              <a:rPr lang="en-US" sz="4000" b="1" dirty="0">
                <a:solidFill>
                  <a:schemeClr val="accent1"/>
                </a:solidFill>
              </a:rPr>
              <a:t>Malla Reddy Engineering college</a:t>
            </a:r>
            <a:endParaRPr lang="en-IN" sz="4000" b="1" dirty="0">
              <a:solidFill>
                <a:schemeClr val="accent1"/>
              </a:solidFill>
            </a:endParaRPr>
          </a:p>
        </p:txBody>
      </p:sp>
      <p:sp>
        <p:nvSpPr>
          <p:cNvPr id="3" name="Subtitle 2"/>
          <p:cNvSpPr>
            <a:spLocks noGrp="1"/>
          </p:cNvSpPr>
          <p:nvPr>
            <p:ph type="subTitle" idx="1"/>
          </p:nvPr>
        </p:nvSpPr>
        <p:spPr>
          <a:xfrm>
            <a:off x="1722028" y="1933409"/>
            <a:ext cx="9144000" cy="697404"/>
          </a:xfrm>
        </p:spPr>
        <p:txBody>
          <a:bodyPr>
            <a:normAutofit/>
          </a:bodyPr>
          <a:lstStyle/>
          <a:p>
            <a:r>
              <a:rPr lang="en-US" sz="2800" b="1" dirty="0">
                <a:solidFill>
                  <a:schemeClr val="accent5"/>
                </a:solidFill>
              </a:rPr>
              <a:t>MINI PROJECT PRESENTATION</a:t>
            </a:r>
            <a:endParaRPr lang="en-IN" sz="2800" b="1" dirty="0">
              <a:solidFill>
                <a:schemeClr val="accent5"/>
              </a:solidFill>
            </a:endParaRPr>
          </a:p>
        </p:txBody>
      </p:sp>
      <p:sp>
        <p:nvSpPr>
          <p:cNvPr id="4" name="TextBox 3"/>
          <p:cNvSpPr txBox="1"/>
          <p:nvPr/>
        </p:nvSpPr>
        <p:spPr>
          <a:xfrm>
            <a:off x="268918" y="2742132"/>
            <a:ext cx="6803923" cy="1323439"/>
          </a:xfrm>
          <a:prstGeom prst="rect">
            <a:avLst/>
          </a:prstGeom>
          <a:noFill/>
        </p:spPr>
        <p:txBody>
          <a:bodyPr wrap="square" rtlCol="0">
            <a:spAutoFit/>
          </a:bodyPr>
          <a:lstStyle/>
          <a:p>
            <a:r>
              <a:rPr lang="en-US" sz="2000" dirty="0">
                <a:solidFill>
                  <a:schemeClr val="accent5">
                    <a:lumMod val="50000"/>
                  </a:schemeClr>
                </a:solidFill>
              </a:rPr>
              <a:t>RATHOD CHETAN                         24J45A0504</a:t>
            </a:r>
          </a:p>
          <a:p>
            <a:r>
              <a:rPr lang="en-US" sz="1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GANTAVISHNUVARDHANBABU</a:t>
            </a:r>
            <a:r>
              <a:rPr lang="en-US" sz="1800" dirty="0">
                <a:solidFill>
                  <a:schemeClr val="accent5">
                    <a:lumMod val="50000"/>
                  </a:schemeClr>
                </a:solidFill>
                <a:effectLst/>
                <a:latin typeface="Times New Roman" panose="02020603050405020304" pitchFamily="18" charset="0"/>
                <a:ea typeface="Times New Roman" panose="02020603050405020304" pitchFamily="18" charset="0"/>
              </a:rPr>
              <a:t>      </a:t>
            </a:r>
            <a:r>
              <a:rPr lang="en-US" sz="2000" dirty="0">
                <a:solidFill>
                  <a:schemeClr val="accent5">
                    <a:lumMod val="50000"/>
                  </a:schemeClr>
                </a:solidFill>
              </a:rPr>
              <a:t>23J41A0523</a:t>
            </a:r>
          </a:p>
          <a:p>
            <a:r>
              <a:rPr lang="en-US" sz="1800" dirty="0">
                <a:solidFill>
                  <a:schemeClr val="accent5">
                    <a:lumMod val="50000"/>
                  </a:schemeClr>
                </a:solidFill>
                <a:effectLst/>
                <a:latin typeface="Times New Roman" panose="02020603050405020304" pitchFamily="18" charset="0"/>
                <a:ea typeface="Times New Roman" panose="02020603050405020304" pitchFamily="18" charset="0"/>
              </a:rPr>
              <a:t>ALKA NIVAS GOUD 	        </a:t>
            </a:r>
            <a:r>
              <a:rPr lang="en-US" sz="2000" dirty="0">
                <a:solidFill>
                  <a:schemeClr val="accent5">
                    <a:lumMod val="50000"/>
                  </a:schemeClr>
                </a:solidFill>
              </a:rPr>
              <a:t>24J45A0501</a:t>
            </a:r>
          </a:p>
          <a:p>
            <a:r>
              <a:rPr lang="en-US" sz="1800" dirty="0">
                <a:solidFill>
                  <a:schemeClr val="accent5">
                    <a:lumMod val="50000"/>
                  </a:schemeClr>
                </a:solidFill>
                <a:effectLst/>
                <a:latin typeface="Times New Roman" panose="02020603050405020304" pitchFamily="18" charset="0"/>
                <a:ea typeface="Times New Roman" panose="02020603050405020304" pitchFamily="18" charset="0"/>
              </a:rPr>
              <a:t>PERLA ARTHIKA                         </a:t>
            </a:r>
            <a:r>
              <a:rPr lang="en-US" sz="2000" dirty="0">
                <a:solidFill>
                  <a:schemeClr val="accent5">
                    <a:lumMod val="50000"/>
                  </a:schemeClr>
                </a:solidFill>
              </a:rPr>
              <a:t>24J45A0503</a:t>
            </a:r>
            <a:endParaRPr lang="en-IN" sz="2000" dirty="0">
              <a:solidFill>
                <a:schemeClr val="accent5">
                  <a:lumMod val="50000"/>
                </a:schemeClr>
              </a:solidFill>
            </a:endParaRPr>
          </a:p>
        </p:txBody>
      </p:sp>
      <p:sp>
        <p:nvSpPr>
          <p:cNvPr id="5" name="TextBox 4"/>
          <p:cNvSpPr txBox="1"/>
          <p:nvPr/>
        </p:nvSpPr>
        <p:spPr>
          <a:xfrm flipH="1">
            <a:off x="7737986" y="2794197"/>
            <a:ext cx="3313471" cy="1569660"/>
          </a:xfrm>
          <a:prstGeom prst="rect">
            <a:avLst/>
          </a:prstGeom>
          <a:noFill/>
        </p:spPr>
        <p:txBody>
          <a:bodyPr wrap="square" rtlCol="0">
            <a:spAutoFit/>
          </a:bodyPr>
          <a:lstStyle/>
          <a:p>
            <a:r>
              <a:rPr lang="en-US" sz="2000" dirty="0">
                <a:solidFill>
                  <a:srgbClr val="7030A0"/>
                </a:solidFill>
              </a:rPr>
              <a:t>GUIDE / SUPERVISOR</a:t>
            </a:r>
          </a:p>
          <a:p>
            <a:r>
              <a:rPr lang="en-US" sz="1800" b="1" kern="0" dirty="0">
                <a:solidFill>
                  <a:srgbClr val="00B0F0"/>
                </a:solidFill>
                <a:effectLst/>
                <a:latin typeface="Times New Roman" panose="02020603050405020304" pitchFamily="18" charset="0"/>
                <a:ea typeface="Times New Roman" panose="02020603050405020304" pitchFamily="18" charset="0"/>
              </a:rPr>
              <a:t>Mr.</a:t>
            </a:r>
            <a:r>
              <a:rPr lang="en-US" sz="1800" b="1" kern="0" spc="-20" dirty="0">
                <a:solidFill>
                  <a:srgbClr val="00B0F0"/>
                </a:solidFill>
                <a:effectLst/>
                <a:latin typeface="Times New Roman" panose="02020603050405020304" pitchFamily="18" charset="0"/>
                <a:ea typeface="Times New Roman" panose="02020603050405020304" pitchFamily="18" charset="0"/>
              </a:rPr>
              <a:t> </a:t>
            </a:r>
            <a:r>
              <a:rPr lang="en-US" sz="1800" b="1" kern="0" dirty="0">
                <a:solidFill>
                  <a:srgbClr val="00B0F0"/>
                </a:solidFill>
                <a:effectLst/>
                <a:latin typeface="Times New Roman" panose="02020603050405020304" pitchFamily="18" charset="0"/>
                <a:ea typeface="Times New Roman" panose="02020603050405020304" pitchFamily="18" charset="0"/>
              </a:rPr>
              <a:t>SYED ABDUL HAQ</a:t>
            </a:r>
          </a:p>
          <a:p>
            <a:r>
              <a:rPr lang="en-US" sz="2000" dirty="0" err="1">
                <a:solidFill>
                  <a:schemeClr val="bg2">
                    <a:lumMod val="10000"/>
                  </a:schemeClr>
                </a:solidFill>
              </a:rPr>
              <a:t>Dept.of</a:t>
            </a:r>
            <a:r>
              <a:rPr lang="en-US" sz="2000" dirty="0">
                <a:solidFill>
                  <a:schemeClr val="bg2">
                    <a:lumMod val="10000"/>
                  </a:schemeClr>
                </a:solidFill>
              </a:rPr>
              <a:t> CSE</a:t>
            </a:r>
          </a:p>
          <a:p>
            <a:r>
              <a:rPr lang="en-US" sz="2000" dirty="0" err="1">
                <a:solidFill>
                  <a:schemeClr val="bg2">
                    <a:lumMod val="10000"/>
                  </a:schemeClr>
                </a:solidFill>
              </a:rPr>
              <a:t>MREC,Maisammaguda,Hyd</a:t>
            </a:r>
            <a:endParaRPr lang="en-US" sz="2000" dirty="0">
              <a:solidFill>
                <a:schemeClr val="bg2">
                  <a:lumMod val="10000"/>
                </a:schemeClr>
              </a:solidFill>
            </a:endParaRPr>
          </a:p>
          <a:p>
            <a:endParaRPr lang="en-IN" dirty="0"/>
          </a:p>
        </p:txBody>
      </p:sp>
      <p:pic>
        <p:nvPicPr>
          <p:cNvPr id="1028" name="Picture 4" descr="RemotLog | Malla Reddy Engineering College (Autonomous) MRE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3624" y="271760"/>
            <a:ext cx="1943100" cy="18288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344129" y="5093174"/>
            <a:ext cx="11415251" cy="1015663"/>
          </a:xfrm>
          <a:prstGeom prst="rect">
            <a:avLst/>
          </a:prstGeom>
          <a:solidFill>
            <a:schemeClr val="accent2">
              <a:lumMod val="40000"/>
              <a:lumOff val="60000"/>
            </a:schemeClr>
          </a:solidFill>
        </p:spPr>
        <p:txBody>
          <a:bodyPr wrap="square" rtlCol="0">
            <a:spAutoFit/>
          </a:bodyPr>
          <a:lstStyle/>
          <a:p>
            <a:r>
              <a:rPr lang="en-US" sz="2000" dirty="0"/>
              <a:t>Date : 07.05.2025</a:t>
            </a:r>
          </a:p>
          <a:p>
            <a:r>
              <a:rPr lang="en-US" sz="2000" dirty="0"/>
              <a:t>Time : 9:30 AM</a:t>
            </a:r>
          </a:p>
          <a:p>
            <a:r>
              <a:rPr lang="en-US" sz="2000" dirty="0"/>
              <a:t>                                 </a:t>
            </a:r>
            <a:r>
              <a:rPr lang="en-US" sz="2000" b="1" dirty="0">
                <a:solidFill>
                  <a:schemeClr val="accent5">
                    <a:lumMod val="75000"/>
                  </a:schemeClr>
                </a:solidFill>
              </a:rPr>
              <a:t>Venue</a:t>
            </a:r>
            <a:r>
              <a:rPr lang="en-US" sz="2000" dirty="0">
                <a:solidFill>
                  <a:schemeClr val="accent5">
                    <a:lumMod val="75000"/>
                  </a:schemeClr>
                </a:solidFill>
              </a:rPr>
              <a:t> </a:t>
            </a:r>
            <a:r>
              <a:rPr lang="en-US" sz="2000" dirty="0"/>
              <a:t>: </a:t>
            </a:r>
            <a:r>
              <a:rPr lang="en-US" sz="2000" dirty="0" err="1"/>
              <a:t>Maisammaguda,Hyd</a:t>
            </a:r>
            <a:r>
              <a:rPr lang="en-US" sz="2000" dirty="0"/>
              <a:t> ,500100.</a:t>
            </a:r>
            <a:endParaRPr lang="en-IN" sz="2000" dirty="0"/>
          </a:p>
        </p:txBody>
      </p:sp>
      <p:sp>
        <p:nvSpPr>
          <p:cNvPr id="8" name="TextBox 7">
            <a:extLst>
              <a:ext uri="{FF2B5EF4-FFF2-40B4-BE49-F238E27FC236}">
                <a16:creationId xmlns:a16="http://schemas.microsoft.com/office/drawing/2014/main" id="{5FF0DF40-AB5F-AA12-1C44-A91F6CCAFC8B}"/>
              </a:ext>
            </a:extLst>
          </p:cNvPr>
          <p:cNvSpPr txBox="1"/>
          <p:nvPr/>
        </p:nvSpPr>
        <p:spPr>
          <a:xfrm>
            <a:off x="2437307" y="1271695"/>
            <a:ext cx="9271069" cy="584775"/>
          </a:xfrm>
          <a:prstGeom prst="rect">
            <a:avLst/>
          </a:prstGeom>
          <a:noFill/>
        </p:spPr>
        <p:txBody>
          <a:bodyPr wrap="square">
            <a:spAutoFit/>
          </a:bodyPr>
          <a:lstStyle/>
          <a:p>
            <a:r>
              <a:rPr lang="en-US" sz="3200" b="1" dirty="0">
                <a:solidFill>
                  <a:srgbClr val="FF0000"/>
                </a:solidFill>
              </a:rPr>
              <a:t>SMS Spam Detection &amp; URL Malicious Classification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027430"/>
          </a:xfrm>
        </p:spPr>
        <p:txBody>
          <a:bodyPr/>
          <a:lstStyle/>
          <a:p>
            <a:pPr algn="ctr"/>
            <a:r>
              <a:rPr lang="en-US" b="1" dirty="0">
                <a:solidFill>
                  <a:srgbClr val="FF0000"/>
                </a:solidFill>
              </a:rPr>
              <a:t>ABSTRACT</a:t>
            </a:r>
            <a:endParaRPr lang="en-IN" b="1" dirty="0">
              <a:solidFill>
                <a:srgbClr val="FF0000"/>
              </a:solidFill>
            </a:endParaRPr>
          </a:p>
        </p:txBody>
      </p:sp>
      <p:sp>
        <p:nvSpPr>
          <p:cNvPr id="3" name="TextBox 2"/>
          <p:cNvSpPr txBox="1"/>
          <p:nvPr/>
        </p:nvSpPr>
        <p:spPr>
          <a:xfrm>
            <a:off x="485192" y="934066"/>
            <a:ext cx="11434393" cy="5486399"/>
          </a:xfrm>
          <a:prstGeom prst="rect">
            <a:avLst/>
          </a:prstGeom>
          <a:noFill/>
        </p:spPr>
        <p:txBody>
          <a:bodyPr wrap="square" rtlCol="0">
            <a:noAutofit/>
          </a:bodyPr>
          <a:lstStyle/>
          <a:p>
            <a:r>
              <a:rPr lang="en-US" sz="2800" dirty="0"/>
              <a:t>Spam SMS messages and malicious URLs are major threats to personal and financial security. This project presents an automated system that detects spam messages and classifies harmful URLs using Machine Learning and Natural Language Processing (NLP).</a:t>
            </a:r>
          </a:p>
          <a:p>
            <a:r>
              <a:rPr lang="en-US" sz="2800" dirty="0"/>
              <a:t>The system analyzes SMS content using TF-IDF and examines URL features like length, domain, and special characters. It uses algorithms such as Naive Bayes, Logistic Regression, and Random Forest for accurate classification.</a:t>
            </a:r>
          </a:p>
          <a:p>
            <a:r>
              <a:rPr lang="en-US" sz="2800" dirty="0"/>
              <a:t>The model is trained on real-world datasets with proper preprocessing techniques and achieves over 95% accuracy. A user-friendly interface allows users to quickly check whether a message or URL is safe or dangerous.</a:t>
            </a:r>
          </a:p>
          <a:p>
            <a:r>
              <a:rPr lang="en-US" sz="2800" dirty="0"/>
              <a:t>This project helps enhance digital security by providing fast and reliable threat detection.</a:t>
            </a:r>
          </a:p>
          <a:p>
            <a:pPr algn="just"/>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9878" y="341192"/>
            <a:ext cx="10515600" cy="942565"/>
          </a:xfrm>
        </p:spPr>
        <p:txBody>
          <a:bodyPr>
            <a:normAutofit/>
          </a:bodyPr>
          <a:lstStyle/>
          <a:p>
            <a:pPr algn="ctr"/>
            <a:r>
              <a:rPr lang="en-US" sz="3600" b="1" dirty="0">
                <a:solidFill>
                  <a:srgbClr val="FF0000"/>
                </a:solidFill>
              </a:rPr>
              <a:t>INTRODUCTION</a:t>
            </a:r>
            <a:endParaRPr lang="en-IN" sz="3600" b="1" dirty="0">
              <a:solidFill>
                <a:srgbClr val="FF0000"/>
              </a:solidFill>
            </a:endParaRPr>
          </a:p>
        </p:txBody>
      </p:sp>
      <p:sp>
        <p:nvSpPr>
          <p:cNvPr id="5" name="Rectangle 2">
            <a:extLst>
              <a:ext uri="{FF2B5EF4-FFF2-40B4-BE49-F238E27FC236}">
                <a16:creationId xmlns:a16="http://schemas.microsoft.com/office/drawing/2014/main" id="{6F264250-9FAB-C0BC-50A7-DF785E7A7FBE}"/>
              </a:ext>
            </a:extLst>
          </p:cNvPr>
          <p:cNvSpPr>
            <a:spLocks noGrp="1" noChangeArrowheads="1"/>
          </p:cNvSpPr>
          <p:nvPr>
            <p:ph idx="1"/>
          </p:nvPr>
        </p:nvSpPr>
        <p:spPr bwMode="auto">
          <a:xfrm>
            <a:off x="953729" y="1567376"/>
            <a:ext cx="10087898" cy="4478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dirty="0">
                <a:ln>
                  <a:noFill/>
                </a:ln>
                <a:solidFill>
                  <a:schemeClr val="tx1"/>
                </a:solidFill>
                <a:effectLst/>
                <a:latin typeface="Arial" panose="020B0604020202020204" pitchFamily="34" charset="0"/>
              </a:rPr>
              <a:t>Digital Threat Landscape —</a:t>
            </a:r>
            <a:r>
              <a:rPr kumimoji="0" lang="en-US" altLang="en-US" sz="1900" b="0" i="0" u="none" strike="noStrike" cap="none" normalizeH="0" baseline="0" dirty="0">
                <a:ln>
                  <a:noFill/>
                </a:ln>
                <a:solidFill>
                  <a:schemeClr val="tx1"/>
                </a:solidFill>
                <a:effectLst/>
                <a:latin typeface="Arial" panose="020B0604020202020204" pitchFamily="34" charset="0"/>
              </a:rPr>
              <a:t> The rapid growth of mobile communication has given rise to cyber threats like SMS spam and malicious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dirty="0">
                <a:ln>
                  <a:noFill/>
                </a:ln>
                <a:solidFill>
                  <a:schemeClr val="tx1"/>
                </a:solidFill>
                <a:effectLst/>
                <a:latin typeface="Arial" panose="020B0604020202020204" pitchFamily="34" charset="0"/>
              </a:rPr>
              <a:t> URLs that target millions of users every single day.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dirty="0">
                <a:ln>
                  <a:noFill/>
                </a:ln>
                <a:solidFill>
                  <a:schemeClr val="tx1"/>
                </a:solidFill>
                <a:effectLst/>
                <a:latin typeface="Arial" panose="020B0604020202020204" pitchFamily="34" charset="0"/>
              </a:rPr>
              <a:t>SMS Spam Problem —</a:t>
            </a:r>
            <a:r>
              <a:rPr kumimoji="0" lang="en-US" altLang="en-US" sz="1900" b="0" i="0" u="none" strike="noStrike" cap="none" normalizeH="0" baseline="0" dirty="0">
                <a:ln>
                  <a:noFill/>
                </a:ln>
                <a:solidFill>
                  <a:schemeClr val="tx1"/>
                </a:solidFill>
                <a:effectLst/>
                <a:latin typeface="Arial" panose="020B0604020202020204" pitchFamily="34" charset="0"/>
              </a:rPr>
              <a:t> Spam messages disguised as bank alerts, fake offers, and OTP frauds trick users into sharing personal data or clicking on harmful links without realizing the danger.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dirty="0">
                <a:ln>
                  <a:noFill/>
                </a:ln>
                <a:solidFill>
                  <a:schemeClr val="tx1"/>
                </a:solidFill>
                <a:effectLst/>
                <a:latin typeface="Arial" panose="020B0604020202020204" pitchFamily="34" charset="0"/>
              </a:rPr>
              <a:t>Malicious URL Threat —</a:t>
            </a:r>
            <a:r>
              <a:rPr kumimoji="0" lang="en-US" altLang="en-US" sz="1900" b="0" i="0" u="none" strike="noStrike" cap="none" normalizeH="0" baseline="0" dirty="0">
                <a:ln>
                  <a:noFill/>
                </a:ln>
                <a:solidFill>
                  <a:schemeClr val="tx1"/>
                </a:solidFill>
                <a:effectLst/>
                <a:latin typeface="Arial" panose="020B0604020202020204" pitchFamily="34" charset="0"/>
              </a:rPr>
              <a:t> Dangerous URLs are carefully crafted to look legitimate but silently redirect users to phishing pages, steal login credentials, or install malware on their devices.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dirty="0">
                <a:ln>
                  <a:noFill/>
                </a:ln>
                <a:solidFill>
                  <a:schemeClr val="tx1"/>
                </a:solidFill>
                <a:effectLst/>
                <a:latin typeface="Arial" panose="020B0604020202020204" pitchFamily="34" charset="0"/>
              </a:rPr>
              <a:t>Failure of Manual Methods —</a:t>
            </a:r>
            <a:r>
              <a:rPr kumimoji="0" lang="en-US" altLang="en-US" sz="1900" b="0" i="0" u="none" strike="noStrike" cap="none" normalizeH="0" baseline="0" dirty="0">
                <a:ln>
                  <a:noFill/>
                </a:ln>
                <a:solidFill>
                  <a:schemeClr val="tx1"/>
                </a:solidFill>
                <a:effectLst/>
                <a:latin typeface="Arial" panose="020B0604020202020204" pitchFamily="34" charset="0"/>
              </a:rPr>
              <a:t> Traditional rule-based filters and blacklist databases are easily bypassed by attackers and cannot keep up with the speed and volume of modern cyber threats.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dirty="0">
                <a:ln>
                  <a:noFill/>
                </a:ln>
                <a:solidFill>
                  <a:schemeClr val="tx1"/>
                </a:solidFill>
                <a:effectLst/>
                <a:latin typeface="Arial" panose="020B0604020202020204" pitchFamily="34" charset="0"/>
              </a:rPr>
              <a:t>Need for Automation —</a:t>
            </a:r>
            <a:r>
              <a:rPr kumimoji="0" lang="en-US" altLang="en-US" sz="1900" b="0" i="0" u="none" strike="noStrike" cap="none" normalizeH="0" baseline="0" dirty="0">
                <a:ln>
                  <a:noFill/>
                </a:ln>
                <a:solidFill>
                  <a:schemeClr val="tx1"/>
                </a:solidFill>
                <a:effectLst/>
                <a:latin typeface="Arial" panose="020B0604020202020204" pitchFamily="34" charset="0"/>
              </a:rPr>
              <a:t> An intelligent, automated system is urgently needed that can scan, analyze, and classify both SMS messages and URLs in real time without any human involvement.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0231" y="0"/>
            <a:ext cx="10515600" cy="1325563"/>
          </a:xfrm>
        </p:spPr>
        <p:txBody>
          <a:bodyPr>
            <a:normAutofit/>
          </a:bodyPr>
          <a:lstStyle/>
          <a:p>
            <a:pPr algn="ctr"/>
            <a:r>
              <a:rPr lang="en-US" sz="3200" b="1" dirty="0">
                <a:solidFill>
                  <a:srgbClr val="FF0000"/>
                </a:solidFill>
              </a:rPr>
              <a:t>EXISTING SYSTEM</a:t>
            </a:r>
            <a:endParaRPr lang="en-IN" sz="3200" b="1" dirty="0">
              <a:solidFill>
                <a:srgbClr val="FF0000"/>
              </a:solidFill>
            </a:endParaRPr>
          </a:p>
        </p:txBody>
      </p:sp>
      <p:sp>
        <p:nvSpPr>
          <p:cNvPr id="6" name="Rectangle 2"/>
          <p:cNvSpPr>
            <a:spLocks noChangeArrowheads="1"/>
          </p:cNvSpPr>
          <p:nvPr/>
        </p:nvSpPr>
        <p:spPr bwMode="auto">
          <a:xfrm>
            <a:off x="1018867" y="3342918"/>
            <a:ext cx="10154265" cy="1396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lnSpc>
                <a:spcPct val="107000"/>
              </a:lnSpc>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51E07156-4D36-F5DC-99BC-F4F2C18637E3}"/>
              </a:ext>
            </a:extLst>
          </p:cNvPr>
          <p:cNvSpPr>
            <a:spLocks noChangeArrowheads="1"/>
          </p:cNvSpPr>
          <p:nvPr/>
        </p:nvSpPr>
        <p:spPr bwMode="auto">
          <a:xfrm rot="10800000" flipV="1">
            <a:off x="245806" y="1727021"/>
            <a:ext cx="11530025"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Rule-Based Keyword Filters —</a:t>
            </a:r>
            <a:r>
              <a:rPr kumimoji="0" lang="en-US" altLang="en-US" sz="2000" b="0" i="0" u="none" strike="noStrike" cap="none" normalizeH="0" baseline="0" dirty="0">
                <a:ln>
                  <a:noFill/>
                </a:ln>
                <a:solidFill>
                  <a:schemeClr val="tx1"/>
                </a:solidFill>
                <a:effectLst/>
                <a:latin typeface="Arial" panose="020B0604020202020204" pitchFamily="34" charset="0"/>
              </a:rPr>
              <a:t> Early spam detection systems used simple keyword blacklists to block suspicious messages. Attackers easily bypassed them by slightly rewording the spam content.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Blacklist URL Databases —</a:t>
            </a:r>
            <a:r>
              <a:rPr kumimoji="0" lang="en-US" altLang="en-US" sz="2000" b="0" i="0" u="none" strike="noStrike" cap="none" normalizeH="0" baseline="0" dirty="0">
                <a:ln>
                  <a:noFill/>
                </a:ln>
                <a:solidFill>
                  <a:schemeClr val="tx1"/>
                </a:solidFill>
                <a:effectLst/>
                <a:latin typeface="Arial" panose="020B0604020202020204" pitchFamily="34" charset="0"/>
              </a:rPr>
              <a:t> Systems maintained a fixed list of known malicious URLs and blocked them. However, cybercriminals continuously register new domains, making these lists outdated within hours.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Manual Human Review —</a:t>
            </a:r>
            <a:r>
              <a:rPr kumimoji="0" lang="en-US" altLang="en-US" sz="2000" b="0" i="0" u="none" strike="noStrike" cap="none" normalizeH="0" baseline="0" dirty="0">
                <a:ln>
                  <a:noFill/>
                </a:ln>
                <a:solidFill>
                  <a:schemeClr val="tx1"/>
                </a:solidFill>
                <a:effectLst/>
                <a:latin typeface="Arial" panose="020B0604020202020204" pitchFamily="34" charset="0"/>
              </a:rPr>
              <a:t> Some platforms assigned human reviewers to manually flag spam messages and harmful links. This approach is extremely slow, expensive, and impossible to scale.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Email-Only Spam Filters —</a:t>
            </a:r>
            <a:r>
              <a:rPr kumimoji="0" lang="en-US" altLang="en-US" sz="2000" b="0" i="0" u="none" strike="noStrike" cap="none" normalizeH="0" baseline="0" dirty="0">
                <a:ln>
                  <a:noFill/>
                </a:ln>
                <a:solidFill>
                  <a:schemeClr val="tx1"/>
                </a:solidFill>
                <a:effectLst/>
                <a:latin typeface="Arial" panose="020B0604020202020204" pitchFamily="34" charset="0"/>
              </a:rPr>
              <a:t> Most traditional spam detection tools were built exclusively for email platforms, leaving SMS messages and embedded malicious URLs completely unprotected and ignored.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Basic Regex Pattern Matching —</a:t>
            </a:r>
            <a:r>
              <a:rPr kumimoji="0" lang="en-US" altLang="en-US" sz="2000" b="0" i="0" u="none" strike="noStrike" cap="none" normalizeH="0" baseline="0" dirty="0">
                <a:ln>
                  <a:noFill/>
                </a:ln>
                <a:solidFill>
                  <a:schemeClr val="tx1"/>
                </a:solidFill>
                <a:effectLst/>
                <a:latin typeface="Arial" panose="020B0604020202020204" pitchFamily="34" charset="0"/>
              </a:rPr>
              <a:t> Regular expression-based systems scanned messages for suspicious patterns like repeated words or unusual URL formats but lacked the intelligence to detect evolving threats.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5984"/>
            <a:ext cx="10515600" cy="972062"/>
          </a:xfrm>
        </p:spPr>
        <p:txBody>
          <a:bodyPr>
            <a:normAutofit/>
          </a:bodyPr>
          <a:lstStyle/>
          <a:p>
            <a:pPr algn="ctr"/>
            <a:r>
              <a:rPr lang="en-US" sz="3200" b="1" dirty="0">
                <a:solidFill>
                  <a:srgbClr val="FF0000"/>
                </a:solidFill>
              </a:rPr>
              <a:t>DRAWBACKS OF EXISTING SYSTEM</a:t>
            </a:r>
            <a:endParaRPr lang="en-IN" sz="3200" b="1" dirty="0">
              <a:solidFill>
                <a:srgbClr val="FF0000"/>
              </a:solidFill>
            </a:endParaRPr>
          </a:p>
        </p:txBody>
      </p:sp>
      <p:sp>
        <p:nvSpPr>
          <p:cNvPr id="4" name="Rectangle 1">
            <a:extLst>
              <a:ext uri="{FF2B5EF4-FFF2-40B4-BE49-F238E27FC236}">
                <a16:creationId xmlns:a16="http://schemas.microsoft.com/office/drawing/2014/main" id="{2847C323-4578-7EB4-12BD-3FAD2DC22CE6}"/>
              </a:ext>
            </a:extLst>
          </p:cNvPr>
          <p:cNvSpPr>
            <a:spLocks noChangeArrowheads="1"/>
          </p:cNvSpPr>
          <p:nvPr/>
        </p:nvSpPr>
        <p:spPr bwMode="auto">
          <a:xfrm rot="10800000" flipV="1">
            <a:off x="511277" y="1739408"/>
            <a:ext cx="11353800"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High False Positive Rate —</a:t>
            </a:r>
            <a:r>
              <a:rPr kumimoji="0" lang="en-US" altLang="en-US" sz="2000" b="0" i="0" u="none" strike="noStrike" cap="none" normalizeH="0" baseline="0" dirty="0">
                <a:ln>
                  <a:noFill/>
                </a:ln>
                <a:solidFill>
                  <a:schemeClr val="tx1"/>
                </a:solidFill>
                <a:effectLst/>
                <a:latin typeface="Arial" panose="020B0604020202020204" pitchFamily="34" charset="0"/>
              </a:rPr>
              <a:t> Traditional filters frequently misclassify legitimate messages as spam, causing users to miss important information like bank OTPs, delivery updates, and personal messages.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Easily Bypassed by Attackers —</a:t>
            </a:r>
            <a:r>
              <a:rPr kumimoji="0" lang="en-US" altLang="en-US" sz="2000" b="0" i="0" u="none" strike="noStrike" cap="none" normalizeH="0" baseline="0" dirty="0">
                <a:ln>
                  <a:noFill/>
                </a:ln>
                <a:solidFill>
                  <a:schemeClr val="tx1"/>
                </a:solidFill>
                <a:effectLst/>
                <a:latin typeface="Arial" panose="020B0604020202020204" pitchFamily="34" charset="0"/>
              </a:rPr>
              <a:t> Cybercriminals simply rephrase spam content or register new URLs to fool rule-based systems, making these filters ineffective within a very short period of time.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No Learning or Adaptation —</a:t>
            </a:r>
            <a:r>
              <a:rPr kumimoji="0" lang="en-US" altLang="en-US" sz="2000" b="0" i="0" u="none" strike="noStrike" cap="none" normalizeH="0" baseline="0" dirty="0">
                <a:ln>
                  <a:noFill/>
                </a:ln>
                <a:solidFill>
                  <a:schemeClr val="tx1"/>
                </a:solidFill>
                <a:effectLst/>
                <a:latin typeface="Arial" panose="020B0604020202020204" pitchFamily="34" charset="0"/>
              </a:rPr>
              <a:t> Existing systems cannot learn from new spam patterns on their own and require constant manual updates to stay relevant against rapidly evolving cyber threats.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Outdated Blacklist Databases —</a:t>
            </a:r>
            <a:r>
              <a:rPr kumimoji="0" lang="en-US" altLang="en-US" sz="2000" b="0" i="0" u="none" strike="noStrike" cap="none" normalizeH="0" baseline="0" dirty="0">
                <a:ln>
                  <a:noFill/>
                </a:ln>
                <a:solidFill>
                  <a:schemeClr val="tx1"/>
                </a:solidFill>
                <a:effectLst/>
                <a:latin typeface="Arial" panose="020B0604020202020204" pitchFamily="34" charset="0"/>
              </a:rPr>
              <a:t> Malicious URL blacklists become stale within hours as attackers continuously create new domains, leaving users exposed to threats that are not yet added to the list.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No Unified SMS + URL Protection —</a:t>
            </a:r>
            <a:r>
              <a:rPr kumimoji="0" lang="en-US" altLang="en-US" sz="2000" b="0" i="0" u="none" strike="noStrike" cap="none" normalizeH="0" baseline="0" dirty="0">
                <a:ln>
                  <a:noFill/>
                </a:ln>
                <a:solidFill>
                  <a:schemeClr val="tx1"/>
                </a:solidFill>
                <a:effectLst/>
                <a:latin typeface="Arial" panose="020B0604020202020204" pitchFamily="34" charset="0"/>
              </a:rPr>
              <a:t> Most existing tools handle either SMS spam or malicious URLs separately, with no single integrated system capable of addressing both threats at the same time.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6992"/>
            <a:ext cx="10515600" cy="1070385"/>
          </a:xfrm>
        </p:spPr>
        <p:txBody>
          <a:bodyPr>
            <a:normAutofit/>
          </a:bodyPr>
          <a:lstStyle/>
          <a:p>
            <a:pPr algn="ctr"/>
            <a:r>
              <a:rPr lang="en-US" sz="3200" b="1" dirty="0">
                <a:solidFill>
                  <a:srgbClr val="FF0000"/>
                </a:solidFill>
              </a:rPr>
              <a:t>PROPOSED SYSTEM</a:t>
            </a:r>
            <a:endParaRPr lang="en-IN" sz="3200" b="1" dirty="0">
              <a:solidFill>
                <a:srgbClr val="FF0000"/>
              </a:solidFill>
            </a:endParaRPr>
          </a:p>
        </p:txBody>
      </p:sp>
      <p:sp>
        <p:nvSpPr>
          <p:cNvPr id="4" name="Rectangle 1">
            <a:extLst>
              <a:ext uri="{FF2B5EF4-FFF2-40B4-BE49-F238E27FC236}">
                <a16:creationId xmlns:a16="http://schemas.microsoft.com/office/drawing/2014/main" id="{2E5CD0C4-058A-4C71-FD43-56136C89349A}"/>
              </a:ext>
            </a:extLst>
          </p:cNvPr>
          <p:cNvSpPr>
            <a:spLocks noChangeArrowheads="1"/>
          </p:cNvSpPr>
          <p:nvPr/>
        </p:nvSpPr>
        <p:spPr bwMode="auto">
          <a:xfrm rot="10800000" flipV="1">
            <a:off x="696628" y="1488588"/>
            <a:ext cx="10798743" cy="4478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dirty="0">
                <a:ln>
                  <a:noFill/>
                </a:ln>
                <a:solidFill>
                  <a:schemeClr val="tx1"/>
                </a:solidFill>
                <a:effectLst/>
                <a:latin typeface="Arial" panose="020B0604020202020204" pitchFamily="34" charset="0"/>
              </a:rPr>
              <a:t>Dual Protection System —</a:t>
            </a:r>
            <a:r>
              <a:rPr kumimoji="0" lang="en-US" altLang="en-US" sz="1900" b="0" i="0" u="none" strike="noStrike" cap="none" normalizeH="0" baseline="0" dirty="0">
                <a:ln>
                  <a:noFill/>
                </a:ln>
                <a:solidFill>
                  <a:schemeClr val="tx1"/>
                </a:solidFill>
                <a:effectLst/>
                <a:latin typeface="Arial" panose="020B0604020202020204" pitchFamily="34" charset="0"/>
              </a:rPr>
              <a:t> The proposed system combines both SMS Spam Detection and Malicious URL Classification into one unified, intelligent, and fully automated machine learning-based solution.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dirty="0">
                <a:ln>
                  <a:noFill/>
                </a:ln>
                <a:solidFill>
                  <a:schemeClr val="tx1"/>
                </a:solidFill>
                <a:effectLst/>
                <a:latin typeface="Arial" panose="020B0604020202020204" pitchFamily="34" charset="0"/>
              </a:rPr>
              <a:t>NLP-Based SMS Analysis —</a:t>
            </a:r>
            <a:r>
              <a:rPr kumimoji="0" lang="en-US" altLang="en-US" sz="1900" b="0" i="0" u="none" strike="noStrike" cap="none" normalizeH="0" baseline="0" dirty="0">
                <a:ln>
                  <a:noFill/>
                </a:ln>
                <a:solidFill>
                  <a:schemeClr val="tx1"/>
                </a:solidFill>
                <a:effectLst/>
                <a:latin typeface="Arial" panose="020B0604020202020204" pitchFamily="34" charset="0"/>
              </a:rPr>
              <a:t> Incoming SMS messages are processed using Natural Language Processing techniques like tokenization, stop-word removal, and TF-IDF vectorization to extract meaningful text features.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dirty="0">
                <a:ln>
                  <a:noFill/>
                </a:ln>
                <a:solidFill>
                  <a:schemeClr val="tx1"/>
                </a:solidFill>
                <a:effectLst/>
                <a:latin typeface="Arial" panose="020B0604020202020204" pitchFamily="34" charset="0"/>
              </a:rPr>
              <a:t>URL Feature Extraction —</a:t>
            </a:r>
            <a:r>
              <a:rPr kumimoji="0" lang="en-US" altLang="en-US" sz="1900" b="0" i="0" u="none" strike="noStrike" cap="none" normalizeH="0" baseline="0" dirty="0">
                <a:ln>
                  <a:noFill/>
                </a:ln>
                <a:solidFill>
                  <a:schemeClr val="tx1"/>
                </a:solidFill>
                <a:effectLst/>
                <a:latin typeface="Arial" panose="020B0604020202020204" pitchFamily="34" charset="0"/>
              </a:rPr>
              <a:t> URLs are analyzed based on their structural and lexical characteristics such as domain length, special character count, redirect patterns, and suspicious keyword presence.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dirty="0">
                <a:ln>
                  <a:noFill/>
                </a:ln>
                <a:solidFill>
                  <a:schemeClr val="tx1"/>
                </a:solidFill>
                <a:effectLst/>
                <a:latin typeface="Arial" panose="020B0604020202020204" pitchFamily="34" charset="0"/>
              </a:rPr>
              <a:t>Machine Learning Classifiers —</a:t>
            </a:r>
            <a:r>
              <a:rPr kumimoji="0" lang="en-US" altLang="en-US" sz="1900" b="0" i="0" u="none" strike="noStrike" cap="none" normalizeH="0" baseline="0" dirty="0">
                <a:ln>
                  <a:noFill/>
                </a:ln>
                <a:solidFill>
                  <a:schemeClr val="tx1"/>
                </a:solidFill>
                <a:effectLst/>
                <a:latin typeface="Arial" panose="020B0604020202020204" pitchFamily="34" charset="0"/>
              </a:rPr>
              <a:t> Three powerful classifiers — Naive Bayes, Logistic Regression, and Random Forest — are trained on real-world datasets to accurately predict whether input is spam or malicious.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dirty="0">
                <a:ln>
                  <a:noFill/>
                </a:ln>
                <a:solidFill>
                  <a:schemeClr val="tx1"/>
                </a:solidFill>
                <a:effectLst/>
                <a:latin typeface="Arial" panose="020B0604020202020204" pitchFamily="34" charset="0"/>
              </a:rPr>
              <a:t>Data Preprocessing Pipeline —</a:t>
            </a:r>
            <a:r>
              <a:rPr kumimoji="0" lang="en-US" altLang="en-US" sz="1900" b="0" i="0" u="none" strike="noStrike" cap="none" normalizeH="0" baseline="0" dirty="0">
                <a:ln>
                  <a:noFill/>
                </a:ln>
                <a:solidFill>
                  <a:schemeClr val="tx1"/>
                </a:solidFill>
                <a:effectLst/>
                <a:latin typeface="Arial" panose="020B0604020202020204" pitchFamily="34" charset="0"/>
              </a:rPr>
              <a:t> Raw datasets are carefully cleaned, tokenized, and vectorized before training to ensure the model learns from high-quality, well-structured, and noise-free data inputs.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8285"/>
            <a:ext cx="10515600" cy="1325563"/>
          </a:xfrm>
        </p:spPr>
        <p:txBody>
          <a:bodyPr>
            <a:normAutofit/>
          </a:bodyPr>
          <a:lstStyle/>
          <a:p>
            <a:pPr algn="ctr"/>
            <a:r>
              <a:rPr lang="en-IN" sz="3200" b="1" dirty="0">
                <a:solidFill>
                  <a:srgbClr val="FF0000"/>
                </a:solidFill>
              </a:rPr>
              <a:t>ADVANTAGES OF PROPOSED SYSTEM</a:t>
            </a:r>
          </a:p>
        </p:txBody>
      </p:sp>
      <p:sp>
        <p:nvSpPr>
          <p:cNvPr id="3" name="Rectangle 1">
            <a:extLst>
              <a:ext uri="{FF2B5EF4-FFF2-40B4-BE49-F238E27FC236}">
                <a16:creationId xmlns:a16="http://schemas.microsoft.com/office/drawing/2014/main" id="{6FEF571E-21FE-B697-AC49-13FF2E8E71A2}"/>
              </a:ext>
            </a:extLst>
          </p:cNvPr>
          <p:cNvSpPr>
            <a:spLocks noChangeArrowheads="1"/>
          </p:cNvSpPr>
          <p:nvPr/>
        </p:nvSpPr>
        <p:spPr bwMode="auto">
          <a:xfrm rot="10800000" flipV="1">
            <a:off x="326571" y="1875354"/>
            <a:ext cx="11538857"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dirty="0">
                <a:ln>
                  <a:noFill/>
                </a:ln>
                <a:solidFill>
                  <a:schemeClr val="tx1"/>
                </a:solidFill>
                <a:effectLst/>
                <a:latin typeface="Arial" panose="020B0604020202020204" pitchFamily="34" charset="0"/>
              </a:rPr>
              <a:t>High Detection Accuracy —</a:t>
            </a:r>
            <a:r>
              <a:rPr kumimoji="0" lang="en-US" altLang="en-US" sz="1900" b="0" i="0" u="none" strike="noStrike" cap="none" normalizeH="0" baseline="0" dirty="0">
                <a:ln>
                  <a:noFill/>
                </a:ln>
                <a:solidFill>
                  <a:schemeClr val="tx1"/>
                </a:solidFill>
                <a:effectLst/>
                <a:latin typeface="Arial" panose="020B0604020202020204" pitchFamily="34" charset="0"/>
              </a:rPr>
              <a:t> The system achieves over 95% accuracy using Random Forest and Logistic Regression, ensuring that spam messages and malicious URLs are correctly identified with very minimal errors.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dirty="0">
                <a:ln>
                  <a:noFill/>
                </a:ln>
                <a:solidFill>
                  <a:schemeClr val="tx1"/>
                </a:solidFill>
                <a:effectLst/>
                <a:latin typeface="Arial" panose="020B0604020202020204" pitchFamily="34" charset="0"/>
              </a:rPr>
              <a:t>Dual Threat Coverage —</a:t>
            </a:r>
            <a:r>
              <a:rPr kumimoji="0" lang="en-US" altLang="en-US" sz="1900" b="0" i="0" u="none" strike="noStrike" cap="none" normalizeH="0" baseline="0" dirty="0">
                <a:ln>
                  <a:noFill/>
                </a:ln>
                <a:solidFill>
                  <a:schemeClr val="tx1"/>
                </a:solidFill>
                <a:effectLst/>
                <a:latin typeface="Arial" panose="020B0604020202020204" pitchFamily="34" charset="0"/>
              </a:rPr>
              <a:t> Unlike existing tools that handle only one threat at a time, this system detects both SMS spam and malicious URLs together in a single unified and intelligent platform.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dirty="0">
                <a:ln>
                  <a:noFill/>
                </a:ln>
                <a:solidFill>
                  <a:schemeClr val="tx1"/>
                </a:solidFill>
                <a:effectLst/>
                <a:latin typeface="Arial" panose="020B0604020202020204" pitchFamily="34" charset="0"/>
              </a:rPr>
              <a:t>Intelligent &amp; Adaptive Learning —</a:t>
            </a:r>
            <a:r>
              <a:rPr kumimoji="0" lang="en-US" altLang="en-US" sz="1900" b="0" i="0" u="none" strike="noStrike" cap="none" normalizeH="0" baseline="0" dirty="0">
                <a:ln>
                  <a:noFill/>
                </a:ln>
                <a:solidFill>
                  <a:schemeClr val="tx1"/>
                </a:solidFill>
                <a:effectLst/>
                <a:latin typeface="Arial" panose="020B0604020202020204" pitchFamily="34" charset="0"/>
              </a:rPr>
              <a:t> The machine learning models can be retrained with new data at any time, allowing the system to continuously adapt and stay effective against new and evolving cyber threats.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dirty="0">
                <a:ln>
                  <a:noFill/>
                </a:ln>
                <a:solidFill>
                  <a:schemeClr val="tx1"/>
                </a:solidFill>
                <a:effectLst/>
                <a:latin typeface="Arial" panose="020B0604020202020204" pitchFamily="34" charset="0"/>
              </a:rPr>
              <a:t>Real-Time Classification —</a:t>
            </a:r>
            <a:r>
              <a:rPr kumimoji="0" lang="en-US" altLang="en-US" sz="1900" b="0" i="0" u="none" strike="noStrike" cap="none" normalizeH="0" baseline="0" dirty="0">
                <a:ln>
                  <a:noFill/>
                </a:ln>
                <a:solidFill>
                  <a:schemeClr val="tx1"/>
                </a:solidFill>
                <a:effectLst/>
                <a:latin typeface="Arial" panose="020B0604020202020204" pitchFamily="34" charset="0"/>
              </a:rPr>
              <a:t> The system processes and classifies any given SMS message or URL within milliseconds, making it highly practical and efficient for real-time use in everyday digital communication.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dirty="0">
                <a:ln>
                  <a:noFill/>
                </a:ln>
                <a:solidFill>
                  <a:schemeClr val="tx1"/>
                </a:solidFill>
                <a:effectLst/>
                <a:latin typeface="Arial" panose="020B0604020202020204" pitchFamily="34" charset="0"/>
              </a:rPr>
              <a:t>No Technical Knowledge Required —</a:t>
            </a:r>
            <a:r>
              <a:rPr kumimoji="0" lang="en-US" altLang="en-US" sz="1900" b="0" i="0" u="none" strike="noStrike" cap="none" normalizeH="0" baseline="0" dirty="0">
                <a:ln>
                  <a:noFill/>
                </a:ln>
                <a:solidFill>
                  <a:schemeClr val="tx1"/>
                </a:solidFill>
                <a:effectLst/>
                <a:latin typeface="Arial" panose="020B0604020202020204" pitchFamily="34" charset="0"/>
              </a:rPr>
              <a:t> The simple </a:t>
            </a:r>
            <a:r>
              <a:rPr kumimoji="0" lang="en-US" altLang="en-US" sz="1900" b="0" i="0" u="none" strike="noStrike" cap="none" normalizeH="0" baseline="0" dirty="0" err="1">
                <a:ln>
                  <a:noFill/>
                </a:ln>
                <a:solidFill>
                  <a:schemeClr val="tx1"/>
                </a:solidFill>
                <a:effectLst/>
                <a:latin typeface="Arial" panose="020B0604020202020204" pitchFamily="34" charset="0"/>
              </a:rPr>
              <a:t>Tkinter</a:t>
            </a:r>
            <a:r>
              <a:rPr kumimoji="0" lang="en-US" altLang="en-US" sz="1900" b="0" i="0" u="none" strike="noStrike" cap="none" normalizeH="0" baseline="0" dirty="0">
                <a:ln>
                  <a:noFill/>
                </a:ln>
                <a:solidFill>
                  <a:schemeClr val="tx1"/>
                </a:solidFill>
                <a:effectLst/>
                <a:latin typeface="Arial" panose="020B0604020202020204" pitchFamily="34" charset="0"/>
              </a:rPr>
              <a:t> GUI allows any ordinary user — regardless of their technical background — to safely check messages and links instantly with just a click.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flipH="1">
            <a:off x="2450410" y="386080"/>
            <a:ext cx="7526709" cy="584775"/>
          </a:xfrm>
          <a:prstGeom prst="rect">
            <a:avLst/>
          </a:prstGeom>
          <a:noFill/>
        </p:spPr>
        <p:txBody>
          <a:bodyPr wrap="square" rtlCol="0">
            <a:spAutoFit/>
          </a:bodyPr>
          <a:lstStyle/>
          <a:p>
            <a:pPr algn="ctr"/>
            <a:r>
              <a:rPr lang="en-IN" sz="3200" b="1" dirty="0">
                <a:solidFill>
                  <a:srgbClr val="FF0000"/>
                </a:solidFill>
              </a:rPr>
              <a:t>SYSTEM ARCHITECTURE</a:t>
            </a:r>
          </a:p>
        </p:txBody>
      </p:sp>
      <p:pic>
        <p:nvPicPr>
          <p:cNvPr id="5" name="Image 7">
            <a:extLst>
              <a:ext uri="{FF2B5EF4-FFF2-40B4-BE49-F238E27FC236}">
                <a16:creationId xmlns:a16="http://schemas.microsoft.com/office/drawing/2014/main" id="{C5F57714-9C00-1F32-8FB9-A77B40B2DD21}"/>
              </a:ext>
            </a:extLst>
          </p:cNvPr>
          <p:cNvPicPr>
            <a:picLocks/>
          </p:cNvPicPr>
          <p:nvPr/>
        </p:nvPicPr>
        <p:blipFill>
          <a:blip r:embed="rId2" cstate="print"/>
          <a:stretch>
            <a:fillRect/>
          </a:stretch>
        </p:blipFill>
        <p:spPr>
          <a:xfrm>
            <a:off x="2615641" y="1403072"/>
            <a:ext cx="6960718" cy="494856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a:solidFill>
                  <a:srgbClr val="FF0000"/>
                </a:solidFill>
              </a:rPr>
              <a:t>SOFTWARE AND HARDWARE REQUIREMENTS</a:t>
            </a:r>
          </a:p>
        </p:txBody>
      </p:sp>
      <p:sp>
        <p:nvSpPr>
          <p:cNvPr id="3" name="Content Placeholder 2"/>
          <p:cNvSpPr>
            <a:spLocks noGrp="1"/>
          </p:cNvSpPr>
          <p:nvPr>
            <p:ph sz="half" idx="1"/>
          </p:nvPr>
        </p:nvSpPr>
        <p:spPr/>
        <p:txBody>
          <a:bodyPr>
            <a:normAutofit/>
          </a:bodyPr>
          <a:lstStyle/>
          <a:p>
            <a:r>
              <a:rPr lang="en-IN" sz="2000" b="1" dirty="0"/>
              <a:t>SOFTWARE REQUIREMENTS</a:t>
            </a:r>
          </a:p>
          <a:p>
            <a:endParaRPr lang="en-IN" sz="2000" dirty="0"/>
          </a:p>
          <a:p>
            <a:pPr marL="1143000" marR="0" lvl="2" indent="-228600">
              <a:lnSpc>
                <a:spcPts val="1370"/>
              </a:lnSpc>
              <a:spcBef>
                <a:spcPts val="0"/>
              </a:spcBef>
              <a:spcAft>
                <a:spcPts val="0"/>
              </a:spcAft>
              <a:buSzPts val="1000"/>
              <a:buFont typeface="Symbol" panose="05050102010706020507" pitchFamily="18" charset="2"/>
              <a:buChar char=""/>
              <a:tabLst>
                <a:tab pos="452755" algn="l"/>
              </a:tabLst>
            </a:pPr>
            <a:r>
              <a:rPr lang="en-US" sz="1800" spc="0" dirty="0">
                <a:effectLst/>
                <a:latin typeface="Times New Roman" panose="02020603050405020304" pitchFamily="18" charset="0"/>
                <a:ea typeface="Symbol" panose="05050102010706020507" pitchFamily="18" charset="2"/>
                <a:cs typeface="Symbol" panose="05050102010706020507" pitchFamily="18" charset="2"/>
              </a:rPr>
              <a:t>Operating</a:t>
            </a:r>
            <a:r>
              <a:rPr lang="en-US" sz="1800" spc="5" dirty="0">
                <a:effectLst/>
                <a:latin typeface="Times New Roman" panose="02020603050405020304" pitchFamily="18" charset="0"/>
                <a:ea typeface="Symbol" panose="05050102010706020507" pitchFamily="18" charset="2"/>
                <a:cs typeface="Symbol" panose="05050102010706020507" pitchFamily="18" charset="2"/>
              </a:rPr>
              <a:t> </a:t>
            </a:r>
            <a:r>
              <a:rPr lang="en-US" sz="1800" spc="0" dirty="0">
                <a:effectLst/>
                <a:latin typeface="Times New Roman" panose="02020603050405020304" pitchFamily="18" charset="0"/>
                <a:ea typeface="Symbol" panose="05050102010706020507" pitchFamily="18" charset="2"/>
                <a:cs typeface="Symbol" panose="05050102010706020507" pitchFamily="18" charset="2"/>
              </a:rPr>
              <a:t>System</a:t>
            </a:r>
            <a:r>
              <a:rPr lang="en-US" sz="1800" spc="-40" dirty="0">
                <a:effectLst/>
                <a:latin typeface="Times New Roman" panose="02020603050405020304" pitchFamily="18" charset="0"/>
                <a:ea typeface="Symbol" panose="05050102010706020507" pitchFamily="18" charset="2"/>
                <a:cs typeface="Symbol" panose="05050102010706020507" pitchFamily="18" charset="2"/>
              </a:rPr>
              <a:t> </a:t>
            </a:r>
            <a:r>
              <a:rPr lang="en-US" sz="1800" spc="0" dirty="0">
                <a:effectLst/>
                <a:latin typeface="Times New Roman" panose="02020603050405020304" pitchFamily="18" charset="0"/>
                <a:ea typeface="Symbol" panose="05050102010706020507" pitchFamily="18" charset="2"/>
                <a:cs typeface="Symbol" panose="05050102010706020507" pitchFamily="18" charset="2"/>
              </a:rPr>
              <a:t>:</a:t>
            </a:r>
            <a:r>
              <a:rPr lang="en-US" sz="1800" spc="10" dirty="0">
                <a:effectLst/>
                <a:latin typeface="Times New Roman" panose="02020603050405020304" pitchFamily="18" charset="0"/>
                <a:ea typeface="Symbol" panose="05050102010706020507" pitchFamily="18" charset="2"/>
                <a:cs typeface="Symbol" panose="05050102010706020507" pitchFamily="18" charset="2"/>
              </a:rPr>
              <a:t> </a:t>
            </a:r>
            <a:r>
              <a:rPr lang="en-US" sz="1800" spc="-10" dirty="0">
                <a:effectLst/>
                <a:latin typeface="Times New Roman" panose="02020603050405020304" pitchFamily="18" charset="0"/>
                <a:ea typeface="Symbol" panose="05050102010706020507" pitchFamily="18" charset="2"/>
                <a:cs typeface="Symbol" panose="05050102010706020507" pitchFamily="18" charset="2"/>
              </a:rPr>
              <a:t>Windows</a:t>
            </a:r>
            <a:endParaRPr lang="en-US" sz="1800" spc="0" dirty="0">
              <a:effectLst/>
              <a:latin typeface="Times New Roman" panose="02020603050405020304" pitchFamily="18" charset="0"/>
              <a:ea typeface="Symbol" panose="05050102010706020507" pitchFamily="18" charset="2"/>
              <a:cs typeface="Symbol" panose="05050102010706020507" pitchFamily="18" charset="2"/>
            </a:endParaRPr>
          </a:p>
          <a:p>
            <a:pPr marL="1143000" marR="0" lvl="2" indent="-228600">
              <a:spcBef>
                <a:spcPts val="715"/>
              </a:spcBef>
              <a:spcAft>
                <a:spcPts val="0"/>
              </a:spcAft>
              <a:buSzPts val="1000"/>
              <a:buFont typeface="Symbol" panose="05050102010706020507" pitchFamily="18" charset="2"/>
              <a:buChar char=""/>
              <a:tabLst>
                <a:tab pos="452755" algn="l"/>
              </a:tabLst>
            </a:pPr>
            <a:r>
              <a:rPr lang="en-US" sz="1800" spc="0" dirty="0">
                <a:effectLst/>
                <a:latin typeface="Times New Roman" panose="02020603050405020304" pitchFamily="18" charset="0"/>
                <a:ea typeface="Symbol" panose="05050102010706020507" pitchFamily="18" charset="2"/>
                <a:cs typeface="Symbol" panose="05050102010706020507" pitchFamily="18" charset="2"/>
              </a:rPr>
              <a:t>Programming</a:t>
            </a:r>
            <a:r>
              <a:rPr lang="en-US" sz="1800" spc="-10" dirty="0">
                <a:effectLst/>
                <a:latin typeface="Times New Roman" panose="02020603050405020304" pitchFamily="18" charset="0"/>
                <a:ea typeface="Symbol" panose="05050102010706020507" pitchFamily="18" charset="2"/>
                <a:cs typeface="Symbol" panose="05050102010706020507" pitchFamily="18" charset="2"/>
              </a:rPr>
              <a:t> </a:t>
            </a:r>
            <a:r>
              <a:rPr lang="en-US" sz="1800" spc="0" dirty="0">
                <a:effectLst/>
                <a:latin typeface="Times New Roman" panose="02020603050405020304" pitchFamily="18" charset="0"/>
                <a:ea typeface="Symbol" panose="05050102010706020507" pitchFamily="18" charset="2"/>
                <a:cs typeface="Symbol" panose="05050102010706020507" pitchFamily="18" charset="2"/>
              </a:rPr>
              <a:t>Language</a:t>
            </a:r>
            <a:r>
              <a:rPr lang="en-US" sz="1800" spc="-15" dirty="0">
                <a:effectLst/>
                <a:latin typeface="Times New Roman" panose="02020603050405020304" pitchFamily="18" charset="0"/>
                <a:ea typeface="Symbol" panose="05050102010706020507" pitchFamily="18" charset="2"/>
                <a:cs typeface="Symbol" panose="05050102010706020507" pitchFamily="18" charset="2"/>
              </a:rPr>
              <a:t> </a:t>
            </a:r>
            <a:r>
              <a:rPr lang="en-US" sz="1800" spc="0" dirty="0">
                <a:effectLst/>
                <a:latin typeface="Times New Roman" panose="02020603050405020304" pitchFamily="18" charset="0"/>
                <a:ea typeface="Symbol" panose="05050102010706020507" pitchFamily="18" charset="2"/>
                <a:cs typeface="Symbol" panose="05050102010706020507" pitchFamily="18" charset="2"/>
              </a:rPr>
              <a:t>:</a:t>
            </a:r>
            <a:r>
              <a:rPr lang="en-US" sz="1800" spc="-5" dirty="0">
                <a:effectLst/>
                <a:latin typeface="Times New Roman" panose="02020603050405020304" pitchFamily="18" charset="0"/>
                <a:ea typeface="Symbol" panose="05050102010706020507" pitchFamily="18" charset="2"/>
                <a:cs typeface="Symbol" panose="05050102010706020507" pitchFamily="18" charset="2"/>
              </a:rPr>
              <a:t> </a:t>
            </a:r>
            <a:r>
              <a:rPr lang="en-US" sz="1800" spc="-10" dirty="0">
                <a:effectLst/>
                <a:latin typeface="Times New Roman" panose="02020603050405020304" pitchFamily="18" charset="0"/>
                <a:ea typeface="Symbol" panose="05050102010706020507" pitchFamily="18" charset="2"/>
                <a:cs typeface="Symbol" panose="05050102010706020507" pitchFamily="18" charset="2"/>
              </a:rPr>
              <a:t>Python</a:t>
            </a:r>
            <a:endParaRPr lang="en-US" sz="1800" spc="0" dirty="0">
              <a:effectLst/>
              <a:latin typeface="Times New Roman" panose="02020603050405020304" pitchFamily="18" charset="0"/>
              <a:ea typeface="Symbol" panose="05050102010706020507" pitchFamily="18" charset="2"/>
              <a:cs typeface="Symbol" panose="05050102010706020507" pitchFamily="18" charset="2"/>
            </a:endParaRPr>
          </a:p>
          <a:p>
            <a:endParaRPr lang="en-IN" sz="2000" dirty="0"/>
          </a:p>
        </p:txBody>
      </p:sp>
      <p:sp>
        <p:nvSpPr>
          <p:cNvPr id="4" name="Content Placeholder 3"/>
          <p:cNvSpPr>
            <a:spLocks noGrp="1"/>
          </p:cNvSpPr>
          <p:nvPr>
            <p:ph sz="half" idx="2"/>
          </p:nvPr>
        </p:nvSpPr>
        <p:spPr/>
        <p:txBody>
          <a:bodyPr>
            <a:normAutofit/>
          </a:bodyPr>
          <a:lstStyle/>
          <a:p>
            <a:pPr marL="89535" marR="0">
              <a:spcBef>
                <a:spcPts val="0"/>
              </a:spcBef>
              <a:spcAft>
                <a:spcPts val="0"/>
              </a:spcAft>
            </a:pPr>
            <a:r>
              <a:rPr lang="en-US" sz="1800" b="1" dirty="0">
                <a:effectLst/>
                <a:latin typeface="Times New Roman" panose="02020603050405020304" pitchFamily="18" charset="0"/>
                <a:ea typeface="Times New Roman" panose="02020603050405020304" pitchFamily="18" charset="0"/>
              </a:rPr>
              <a:t>Additional</a:t>
            </a:r>
            <a:r>
              <a:rPr lang="en-US" sz="1800" b="1" spc="-5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Software</a:t>
            </a:r>
            <a:r>
              <a:rPr lang="en-US" sz="1800" b="1" spc="-1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and</a:t>
            </a:r>
            <a:r>
              <a:rPr lang="en-US" sz="1800" b="1" spc="-1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Libraries</a:t>
            </a:r>
            <a:r>
              <a:rPr lang="en-US" sz="1800" b="1" spc="-20" dirty="0">
                <a:effectLst/>
                <a:latin typeface="Times New Roman" panose="02020603050405020304" pitchFamily="18" charset="0"/>
                <a:ea typeface="Times New Roman" panose="02020603050405020304" pitchFamily="18" charset="0"/>
              </a:rPr>
              <a:t> Used:</a:t>
            </a:r>
          </a:p>
          <a:p>
            <a:pPr marL="89535" marR="0">
              <a:spcBef>
                <a:spcPts val="0"/>
              </a:spcBef>
              <a:spcAft>
                <a:spcPts val="0"/>
              </a:spcAft>
            </a:pPr>
            <a:endParaRPr lang="en-US" sz="1800" b="1" spc="-20" dirty="0">
              <a:latin typeface="Times New Roman" panose="02020603050405020304" pitchFamily="18" charset="0"/>
              <a:ea typeface="Times New Roman" panose="02020603050405020304" pitchFamily="18" charset="0"/>
            </a:endParaRPr>
          </a:p>
          <a:p>
            <a:pPr marL="0" marR="0" indent="0">
              <a:spcBef>
                <a:spcPts val="0"/>
              </a:spcBef>
              <a:spcAft>
                <a:spcPts val="0"/>
              </a:spcAft>
              <a:buNone/>
            </a:pPr>
            <a:endParaRPr lang="en-US" sz="1800" b="1" dirty="0">
              <a:effectLst/>
              <a:latin typeface="Times New Roman" panose="02020603050405020304" pitchFamily="18" charset="0"/>
              <a:ea typeface="Times New Roman" panose="02020603050405020304" pitchFamily="18" charset="0"/>
            </a:endParaRPr>
          </a:p>
          <a:p>
            <a:r>
              <a:rPr lang="en-US" sz="1600" spc="0" dirty="0">
                <a:effectLst/>
                <a:latin typeface="Times New Roman" panose="02020603050405020304" pitchFamily="18" charset="0"/>
                <a:ea typeface="Symbol" panose="05050102010706020507" pitchFamily="18" charset="2"/>
                <a:cs typeface="Symbol" panose="05050102010706020507" pitchFamily="18" charset="2"/>
              </a:rPr>
              <a:t>Python</a:t>
            </a:r>
            <a:r>
              <a:rPr lang="en-US" sz="1600" spc="-20" dirty="0">
                <a:effectLst/>
                <a:latin typeface="Times New Roman" panose="02020603050405020304" pitchFamily="18" charset="0"/>
                <a:ea typeface="Symbol" panose="05050102010706020507" pitchFamily="18" charset="2"/>
                <a:cs typeface="Symbol" panose="05050102010706020507" pitchFamily="18" charset="2"/>
              </a:rPr>
              <a:t> </a:t>
            </a:r>
            <a:r>
              <a:rPr lang="en-US" sz="1600" spc="0" dirty="0">
                <a:effectLst/>
                <a:latin typeface="Times New Roman" panose="02020603050405020304" pitchFamily="18" charset="0"/>
                <a:ea typeface="Symbol" panose="05050102010706020507" pitchFamily="18" charset="2"/>
                <a:cs typeface="Symbol" panose="05050102010706020507" pitchFamily="18" charset="2"/>
              </a:rPr>
              <a:t>Version</a:t>
            </a:r>
            <a:r>
              <a:rPr lang="en-US" sz="1600" spc="-15" dirty="0">
                <a:effectLst/>
                <a:latin typeface="Times New Roman" panose="02020603050405020304" pitchFamily="18" charset="0"/>
                <a:ea typeface="Symbol" panose="05050102010706020507" pitchFamily="18" charset="2"/>
                <a:cs typeface="Symbol" panose="05050102010706020507" pitchFamily="18" charset="2"/>
              </a:rPr>
              <a:t> </a:t>
            </a:r>
            <a:r>
              <a:rPr lang="en-US" sz="1600" spc="0" dirty="0">
                <a:effectLst/>
                <a:latin typeface="Times New Roman" panose="02020603050405020304" pitchFamily="18" charset="0"/>
                <a:ea typeface="Symbol" panose="05050102010706020507" pitchFamily="18" charset="2"/>
                <a:cs typeface="Symbol" panose="05050102010706020507" pitchFamily="18" charset="2"/>
              </a:rPr>
              <a:t>:</a:t>
            </a:r>
            <a:r>
              <a:rPr lang="en-US" sz="1600" spc="10" dirty="0">
                <a:effectLst/>
                <a:latin typeface="Times New Roman" panose="02020603050405020304" pitchFamily="18" charset="0"/>
                <a:ea typeface="Symbol" panose="05050102010706020507" pitchFamily="18" charset="2"/>
                <a:cs typeface="Symbol" panose="05050102010706020507" pitchFamily="18" charset="2"/>
              </a:rPr>
              <a:t> </a:t>
            </a:r>
            <a:r>
              <a:rPr lang="en-US" sz="1600" spc="0" dirty="0">
                <a:effectLst/>
                <a:latin typeface="Times New Roman" panose="02020603050405020304" pitchFamily="18" charset="0"/>
                <a:ea typeface="Symbol" panose="05050102010706020507" pitchFamily="18" charset="2"/>
                <a:cs typeface="Symbol" panose="05050102010706020507" pitchFamily="18" charset="2"/>
              </a:rPr>
              <a:t>Python</a:t>
            </a:r>
            <a:r>
              <a:rPr lang="en-US" sz="1600" spc="-15" dirty="0">
                <a:effectLst/>
                <a:latin typeface="Times New Roman" panose="02020603050405020304" pitchFamily="18" charset="0"/>
                <a:ea typeface="Symbol" panose="05050102010706020507" pitchFamily="18" charset="2"/>
                <a:cs typeface="Symbol" panose="05050102010706020507" pitchFamily="18" charset="2"/>
              </a:rPr>
              <a:t> </a:t>
            </a:r>
            <a:r>
              <a:rPr lang="en-US" sz="1600" spc="0" dirty="0">
                <a:effectLst/>
                <a:latin typeface="Times New Roman" panose="02020603050405020304" pitchFamily="18" charset="0"/>
                <a:ea typeface="Symbol" panose="05050102010706020507" pitchFamily="18" charset="2"/>
                <a:cs typeface="Symbol" panose="05050102010706020507" pitchFamily="18" charset="2"/>
              </a:rPr>
              <a:t>3.7</a:t>
            </a:r>
            <a:r>
              <a:rPr lang="en-US" sz="1600" spc="-15" dirty="0">
                <a:effectLst/>
                <a:latin typeface="Times New Roman" panose="02020603050405020304" pitchFamily="18" charset="0"/>
                <a:ea typeface="Symbol" panose="05050102010706020507" pitchFamily="18" charset="2"/>
                <a:cs typeface="Symbol" panose="05050102010706020507" pitchFamily="18" charset="2"/>
              </a:rPr>
              <a:t> </a:t>
            </a:r>
            <a:r>
              <a:rPr lang="en-US" sz="1600" spc="0" dirty="0">
                <a:effectLst/>
                <a:latin typeface="Times New Roman" panose="02020603050405020304" pitchFamily="18" charset="0"/>
                <a:ea typeface="Symbol" panose="05050102010706020507" pitchFamily="18" charset="2"/>
                <a:cs typeface="Symbol" panose="05050102010706020507" pitchFamily="18" charset="2"/>
              </a:rPr>
              <a:t>or</a:t>
            </a:r>
            <a:r>
              <a:rPr lang="en-US" sz="1600" spc="15" dirty="0">
                <a:effectLst/>
                <a:latin typeface="Times New Roman" panose="02020603050405020304" pitchFamily="18" charset="0"/>
                <a:ea typeface="Symbol" panose="05050102010706020507" pitchFamily="18" charset="2"/>
                <a:cs typeface="Symbol" panose="05050102010706020507" pitchFamily="18" charset="2"/>
              </a:rPr>
              <a:t> </a:t>
            </a:r>
            <a:r>
              <a:rPr lang="en-US" sz="1600" spc="-20" dirty="0">
                <a:effectLst/>
                <a:latin typeface="Times New Roman" panose="02020603050405020304" pitchFamily="18" charset="0"/>
                <a:ea typeface="Symbol" panose="05050102010706020507" pitchFamily="18" charset="2"/>
                <a:cs typeface="Symbol" panose="05050102010706020507" pitchFamily="18" charset="2"/>
              </a:rPr>
              <a:t>above</a:t>
            </a:r>
            <a:endParaRPr lang="en-US" sz="1400" spc="0" dirty="0">
              <a:effectLst/>
              <a:latin typeface="Times New Roman" panose="02020603050405020304" pitchFamily="18" charset="0"/>
              <a:ea typeface="Symbol" panose="05050102010706020507" pitchFamily="18" charset="2"/>
              <a:cs typeface="Symbol" panose="05050102010706020507" pitchFamily="18" charset="2"/>
            </a:endParaRPr>
          </a:p>
          <a:p>
            <a:pPr marL="342900" marR="0" lvl="0" indent="-342900">
              <a:spcBef>
                <a:spcPts val="710"/>
              </a:spcBef>
              <a:spcAft>
                <a:spcPts val="0"/>
              </a:spcAft>
              <a:buSzPts val="1000"/>
              <a:buFont typeface="Wingdings" panose="05000000000000000000" pitchFamily="2" charset="2"/>
              <a:buChar char=""/>
              <a:tabLst>
                <a:tab pos="452755" algn="l"/>
              </a:tabLst>
            </a:pPr>
            <a:r>
              <a:rPr lang="en-US" sz="1600" spc="0" dirty="0">
                <a:effectLst/>
                <a:latin typeface="Times New Roman" panose="02020603050405020304" pitchFamily="18" charset="0"/>
                <a:ea typeface="Wingdings" panose="05000000000000000000" pitchFamily="2" charset="2"/>
                <a:cs typeface="Wingdings" panose="05000000000000000000" pitchFamily="2" charset="2"/>
              </a:rPr>
              <a:t>Libraries</a:t>
            </a:r>
            <a:r>
              <a:rPr lang="en-US" sz="1600" spc="-20" dirty="0">
                <a:effectLst/>
                <a:latin typeface="Times New Roman" panose="02020603050405020304" pitchFamily="18" charset="0"/>
                <a:ea typeface="Wingdings" panose="05000000000000000000" pitchFamily="2" charset="2"/>
                <a:cs typeface="Wingdings" panose="05000000000000000000" pitchFamily="2" charset="2"/>
              </a:rPr>
              <a:t> </a:t>
            </a:r>
            <a:r>
              <a:rPr lang="en-US" sz="1600" spc="0" dirty="0">
                <a:effectLst/>
                <a:latin typeface="Times New Roman" panose="02020603050405020304" pitchFamily="18" charset="0"/>
                <a:ea typeface="Wingdings" panose="05000000000000000000" pitchFamily="2" charset="2"/>
                <a:cs typeface="Wingdings" panose="05000000000000000000" pitchFamily="2" charset="2"/>
              </a:rPr>
              <a:t>and</a:t>
            </a:r>
            <a:r>
              <a:rPr lang="en-US" sz="1600" spc="-15" dirty="0">
                <a:effectLst/>
                <a:latin typeface="Times New Roman" panose="02020603050405020304" pitchFamily="18" charset="0"/>
                <a:ea typeface="Wingdings" panose="05000000000000000000" pitchFamily="2" charset="2"/>
                <a:cs typeface="Wingdings" panose="05000000000000000000" pitchFamily="2" charset="2"/>
              </a:rPr>
              <a:t> </a:t>
            </a:r>
            <a:r>
              <a:rPr lang="en-US" sz="1600" spc="0" dirty="0">
                <a:effectLst/>
                <a:latin typeface="Times New Roman" panose="02020603050405020304" pitchFamily="18" charset="0"/>
                <a:ea typeface="Wingdings" panose="05000000000000000000" pitchFamily="2" charset="2"/>
                <a:cs typeface="Wingdings" panose="05000000000000000000" pitchFamily="2" charset="2"/>
              </a:rPr>
              <a:t>Frameworks</a:t>
            </a:r>
            <a:r>
              <a:rPr lang="en-US" sz="1600" spc="-15" dirty="0">
                <a:effectLst/>
                <a:latin typeface="Times New Roman" panose="02020603050405020304" pitchFamily="18" charset="0"/>
                <a:ea typeface="Wingdings" panose="05000000000000000000" pitchFamily="2" charset="2"/>
                <a:cs typeface="Wingdings" panose="05000000000000000000" pitchFamily="2" charset="2"/>
              </a:rPr>
              <a:t> </a:t>
            </a:r>
            <a:r>
              <a:rPr lang="en-US" sz="1600" spc="-50" dirty="0">
                <a:effectLst/>
                <a:latin typeface="Times New Roman" panose="02020603050405020304" pitchFamily="18" charset="0"/>
                <a:ea typeface="Wingdings" panose="05000000000000000000" pitchFamily="2" charset="2"/>
                <a:cs typeface="Wingdings" panose="05000000000000000000" pitchFamily="2" charset="2"/>
              </a:rPr>
              <a:t>:</a:t>
            </a:r>
            <a:endParaRPr lang="en-US" sz="1400" spc="0" dirty="0">
              <a:effectLst/>
              <a:latin typeface="Times New Roman" panose="02020603050405020304" pitchFamily="18" charset="0"/>
              <a:ea typeface="Wingdings" panose="05000000000000000000" pitchFamily="2" charset="2"/>
              <a:cs typeface="Wingdings" panose="05000000000000000000" pitchFamily="2" charset="2"/>
            </a:endParaRPr>
          </a:p>
          <a:p>
            <a:pPr marL="342900" marR="0" lvl="0" indent="-342900">
              <a:spcBef>
                <a:spcPts val="685"/>
              </a:spcBef>
              <a:spcAft>
                <a:spcPts val="0"/>
              </a:spcAft>
              <a:buSzPts val="1200"/>
              <a:buFont typeface="Times New Roman" panose="02020603050405020304" pitchFamily="18" charset="0"/>
              <a:buChar char="•"/>
              <a:tabLst>
                <a:tab pos="452755" algn="l"/>
              </a:tabLst>
            </a:pPr>
            <a:r>
              <a:rPr lang="en-US" sz="1600" spc="0" dirty="0">
                <a:effectLst/>
                <a:latin typeface="Times New Roman" panose="02020603050405020304" pitchFamily="18" charset="0"/>
                <a:ea typeface="Times New Roman" panose="02020603050405020304" pitchFamily="18" charset="0"/>
              </a:rPr>
              <a:t>Scikit-learn</a:t>
            </a:r>
            <a:r>
              <a:rPr lang="en-US" sz="1600" spc="-45" dirty="0">
                <a:effectLst/>
                <a:latin typeface="Times New Roman" panose="02020603050405020304" pitchFamily="18" charset="0"/>
                <a:ea typeface="Times New Roman" panose="02020603050405020304" pitchFamily="18" charset="0"/>
              </a:rPr>
              <a:t> </a:t>
            </a:r>
            <a:r>
              <a:rPr lang="en-US" sz="1600" spc="0" dirty="0">
                <a:effectLst/>
                <a:latin typeface="Times New Roman" panose="02020603050405020304" pitchFamily="18" charset="0"/>
                <a:ea typeface="Times New Roman" panose="02020603050405020304" pitchFamily="18" charset="0"/>
              </a:rPr>
              <a:t>(Machine</a:t>
            </a:r>
            <a:r>
              <a:rPr lang="en-US" sz="1600" spc="-25" dirty="0">
                <a:effectLst/>
                <a:latin typeface="Times New Roman" panose="02020603050405020304" pitchFamily="18" charset="0"/>
                <a:ea typeface="Times New Roman" panose="02020603050405020304" pitchFamily="18" charset="0"/>
              </a:rPr>
              <a:t> </a:t>
            </a:r>
            <a:r>
              <a:rPr lang="en-US" sz="1600" spc="0" dirty="0">
                <a:effectLst/>
                <a:latin typeface="Times New Roman" panose="02020603050405020304" pitchFamily="18" charset="0"/>
                <a:ea typeface="Times New Roman" panose="02020603050405020304" pitchFamily="18" charset="0"/>
              </a:rPr>
              <a:t>Learning</a:t>
            </a:r>
            <a:r>
              <a:rPr lang="en-US" sz="1600" spc="-20" dirty="0">
                <a:effectLst/>
                <a:latin typeface="Times New Roman" panose="02020603050405020304" pitchFamily="18" charset="0"/>
                <a:ea typeface="Times New Roman" panose="02020603050405020304" pitchFamily="18" charset="0"/>
              </a:rPr>
              <a:t> </a:t>
            </a:r>
            <a:r>
              <a:rPr lang="en-US" sz="1600" spc="-10" dirty="0">
                <a:effectLst/>
                <a:latin typeface="Times New Roman" panose="02020603050405020304" pitchFamily="18" charset="0"/>
                <a:ea typeface="Times New Roman" panose="02020603050405020304" pitchFamily="18" charset="0"/>
              </a:rPr>
              <a:t>algorithms)</a:t>
            </a:r>
            <a:endParaRPr lang="en-US" sz="1400" spc="0" dirty="0">
              <a:effectLst/>
              <a:latin typeface="Times New Roman" panose="02020603050405020304" pitchFamily="18" charset="0"/>
              <a:ea typeface="Times New Roman" panose="02020603050405020304" pitchFamily="18" charset="0"/>
            </a:endParaRPr>
          </a:p>
          <a:p>
            <a:pPr marL="342900" marR="0" lvl="0" indent="-342900">
              <a:spcBef>
                <a:spcPts val="685"/>
              </a:spcBef>
              <a:spcAft>
                <a:spcPts val="0"/>
              </a:spcAft>
              <a:buSzPts val="1200"/>
              <a:buFont typeface="Times New Roman" panose="02020603050405020304" pitchFamily="18" charset="0"/>
              <a:buChar char="•"/>
              <a:tabLst>
                <a:tab pos="452755" algn="l"/>
              </a:tabLst>
            </a:pPr>
            <a:r>
              <a:rPr lang="en-US" sz="1600" spc="0" dirty="0">
                <a:effectLst/>
                <a:latin typeface="Times New Roman" panose="02020603050405020304" pitchFamily="18" charset="0"/>
                <a:ea typeface="Times New Roman" panose="02020603050405020304" pitchFamily="18" charset="0"/>
              </a:rPr>
              <a:t>Pandas</a:t>
            </a:r>
            <a:r>
              <a:rPr lang="en-US" sz="1600" spc="-15" dirty="0">
                <a:effectLst/>
                <a:latin typeface="Times New Roman" panose="02020603050405020304" pitchFamily="18" charset="0"/>
                <a:ea typeface="Times New Roman" panose="02020603050405020304" pitchFamily="18" charset="0"/>
              </a:rPr>
              <a:t> </a:t>
            </a:r>
            <a:r>
              <a:rPr lang="en-US" sz="1600" spc="0" dirty="0">
                <a:effectLst/>
                <a:latin typeface="Times New Roman" panose="02020603050405020304" pitchFamily="18" charset="0"/>
                <a:ea typeface="Times New Roman" panose="02020603050405020304" pitchFamily="18" charset="0"/>
              </a:rPr>
              <a:t>and</a:t>
            </a:r>
            <a:r>
              <a:rPr lang="en-US" sz="1600" spc="-5" dirty="0">
                <a:effectLst/>
                <a:latin typeface="Times New Roman" panose="02020603050405020304" pitchFamily="18" charset="0"/>
                <a:ea typeface="Times New Roman" panose="02020603050405020304" pitchFamily="18" charset="0"/>
              </a:rPr>
              <a:t> </a:t>
            </a:r>
            <a:r>
              <a:rPr lang="en-US" sz="1600" spc="0" dirty="0">
                <a:effectLst/>
                <a:latin typeface="Times New Roman" panose="02020603050405020304" pitchFamily="18" charset="0"/>
                <a:ea typeface="Times New Roman" panose="02020603050405020304" pitchFamily="18" charset="0"/>
              </a:rPr>
              <a:t>NumPy</a:t>
            </a:r>
            <a:r>
              <a:rPr lang="en-US" sz="1600" spc="-50" dirty="0">
                <a:effectLst/>
                <a:latin typeface="Times New Roman" panose="02020603050405020304" pitchFamily="18" charset="0"/>
                <a:ea typeface="Times New Roman" panose="02020603050405020304" pitchFamily="18" charset="0"/>
              </a:rPr>
              <a:t> </a:t>
            </a:r>
            <a:r>
              <a:rPr lang="en-US" sz="1600" spc="0" dirty="0">
                <a:effectLst/>
                <a:latin typeface="Times New Roman" panose="02020603050405020304" pitchFamily="18" charset="0"/>
                <a:ea typeface="Times New Roman" panose="02020603050405020304" pitchFamily="18" charset="0"/>
              </a:rPr>
              <a:t>(Data</a:t>
            </a:r>
            <a:r>
              <a:rPr lang="en-US" sz="1600" spc="-10" dirty="0">
                <a:effectLst/>
                <a:latin typeface="Times New Roman" panose="02020603050405020304" pitchFamily="18" charset="0"/>
                <a:ea typeface="Times New Roman" panose="02020603050405020304" pitchFamily="18" charset="0"/>
              </a:rPr>
              <a:t> </a:t>
            </a:r>
            <a:r>
              <a:rPr lang="en-US" sz="1600" spc="0" dirty="0">
                <a:effectLst/>
                <a:latin typeface="Times New Roman" panose="02020603050405020304" pitchFamily="18" charset="0"/>
                <a:ea typeface="Times New Roman" panose="02020603050405020304" pitchFamily="18" charset="0"/>
              </a:rPr>
              <a:t>processing</a:t>
            </a:r>
            <a:r>
              <a:rPr lang="en-US" sz="1600" spc="-5" dirty="0">
                <a:effectLst/>
                <a:latin typeface="Times New Roman" panose="02020603050405020304" pitchFamily="18" charset="0"/>
                <a:ea typeface="Times New Roman" panose="02020603050405020304" pitchFamily="18" charset="0"/>
              </a:rPr>
              <a:t> </a:t>
            </a:r>
            <a:r>
              <a:rPr lang="en-US" sz="1600" spc="0" dirty="0">
                <a:effectLst/>
                <a:latin typeface="Times New Roman" panose="02020603050405020304" pitchFamily="18" charset="0"/>
                <a:ea typeface="Times New Roman" panose="02020603050405020304" pitchFamily="18" charset="0"/>
              </a:rPr>
              <a:t>and</a:t>
            </a:r>
            <a:r>
              <a:rPr lang="en-US" sz="1600" spc="20" dirty="0">
                <a:effectLst/>
                <a:latin typeface="Times New Roman" panose="02020603050405020304" pitchFamily="18" charset="0"/>
                <a:ea typeface="Times New Roman" panose="02020603050405020304" pitchFamily="18" charset="0"/>
              </a:rPr>
              <a:t> </a:t>
            </a:r>
            <a:r>
              <a:rPr lang="en-US" sz="1600" spc="-10" dirty="0">
                <a:effectLst/>
                <a:latin typeface="Times New Roman" panose="02020603050405020304" pitchFamily="18" charset="0"/>
                <a:ea typeface="Times New Roman" panose="02020603050405020304" pitchFamily="18" charset="0"/>
              </a:rPr>
              <a:t>manipulation)</a:t>
            </a:r>
            <a:endParaRPr lang="en-US" sz="1400" spc="0" dirty="0">
              <a:effectLst/>
              <a:latin typeface="Times New Roman" panose="02020603050405020304" pitchFamily="18" charset="0"/>
              <a:ea typeface="Times New Roman" panose="02020603050405020304" pitchFamily="18" charset="0"/>
            </a:endParaRPr>
          </a:p>
          <a:p>
            <a:pPr marL="342900" marR="0" lvl="0" indent="-342900">
              <a:spcBef>
                <a:spcPts val="685"/>
              </a:spcBef>
              <a:spcAft>
                <a:spcPts val="0"/>
              </a:spcAft>
              <a:buSzPts val="1200"/>
              <a:buFont typeface="Times New Roman" panose="02020603050405020304" pitchFamily="18" charset="0"/>
              <a:buChar char="•"/>
              <a:tabLst>
                <a:tab pos="452755" algn="l"/>
              </a:tabLst>
            </a:pPr>
            <a:r>
              <a:rPr lang="en-US" sz="1600" spc="0" dirty="0">
                <a:effectLst/>
                <a:latin typeface="Times New Roman" panose="02020603050405020304" pitchFamily="18" charset="0"/>
                <a:ea typeface="Times New Roman" panose="02020603050405020304" pitchFamily="18" charset="0"/>
              </a:rPr>
              <a:t>NLTK</a:t>
            </a:r>
            <a:r>
              <a:rPr lang="en-US" sz="1600" spc="-25" dirty="0">
                <a:effectLst/>
                <a:latin typeface="Times New Roman" panose="02020603050405020304" pitchFamily="18" charset="0"/>
                <a:ea typeface="Times New Roman" panose="02020603050405020304" pitchFamily="18" charset="0"/>
              </a:rPr>
              <a:t> </a:t>
            </a:r>
            <a:r>
              <a:rPr lang="en-US" sz="1600" spc="0" dirty="0">
                <a:effectLst/>
                <a:latin typeface="Times New Roman" panose="02020603050405020304" pitchFamily="18" charset="0"/>
                <a:ea typeface="Times New Roman" panose="02020603050405020304" pitchFamily="18" charset="0"/>
              </a:rPr>
              <a:t>(Natural</a:t>
            </a:r>
            <a:r>
              <a:rPr lang="en-US" sz="1600" spc="-35" dirty="0">
                <a:effectLst/>
                <a:latin typeface="Times New Roman" panose="02020603050405020304" pitchFamily="18" charset="0"/>
                <a:ea typeface="Times New Roman" panose="02020603050405020304" pitchFamily="18" charset="0"/>
              </a:rPr>
              <a:t> </a:t>
            </a:r>
            <a:r>
              <a:rPr lang="en-US" sz="1600" spc="0" dirty="0">
                <a:effectLst/>
                <a:latin typeface="Times New Roman" panose="02020603050405020304" pitchFamily="18" charset="0"/>
                <a:ea typeface="Times New Roman" panose="02020603050405020304" pitchFamily="18" charset="0"/>
              </a:rPr>
              <a:t>Language</a:t>
            </a:r>
            <a:r>
              <a:rPr lang="en-US" sz="1600" spc="5" dirty="0">
                <a:effectLst/>
                <a:latin typeface="Times New Roman" panose="02020603050405020304" pitchFamily="18" charset="0"/>
                <a:ea typeface="Times New Roman" panose="02020603050405020304" pitchFamily="18" charset="0"/>
              </a:rPr>
              <a:t> </a:t>
            </a:r>
            <a:r>
              <a:rPr lang="en-US" sz="1600" spc="-10" dirty="0">
                <a:effectLst/>
                <a:latin typeface="Times New Roman" panose="02020603050405020304" pitchFamily="18" charset="0"/>
                <a:ea typeface="Times New Roman" panose="02020603050405020304" pitchFamily="18" charset="0"/>
              </a:rPr>
              <a:t>Processing)</a:t>
            </a:r>
            <a:endParaRPr lang="en-US" sz="1400" spc="0" dirty="0">
              <a:effectLst/>
              <a:latin typeface="Times New Roman" panose="02020603050405020304" pitchFamily="18" charset="0"/>
              <a:ea typeface="Times New Roman" panose="02020603050405020304" pitchFamily="18" charset="0"/>
            </a:endParaRPr>
          </a:p>
          <a:p>
            <a:pPr marL="342900" marR="0" lvl="0" indent="-342900">
              <a:spcBef>
                <a:spcPts val="710"/>
              </a:spcBef>
              <a:spcAft>
                <a:spcPts val="0"/>
              </a:spcAft>
              <a:buSzPts val="1200"/>
              <a:buFont typeface="Times New Roman" panose="02020603050405020304" pitchFamily="18" charset="0"/>
              <a:buChar char="•"/>
              <a:tabLst>
                <a:tab pos="452755" algn="l"/>
              </a:tabLst>
            </a:pPr>
            <a:r>
              <a:rPr lang="en-US" sz="1600" spc="0" dirty="0">
                <a:effectLst/>
                <a:latin typeface="Times New Roman" panose="02020603050405020304" pitchFamily="18" charset="0"/>
                <a:ea typeface="Times New Roman" panose="02020603050405020304" pitchFamily="18" charset="0"/>
              </a:rPr>
              <a:t>TensorFlow</a:t>
            </a:r>
            <a:r>
              <a:rPr lang="en-US" sz="1600" spc="-35" dirty="0">
                <a:effectLst/>
                <a:latin typeface="Times New Roman" panose="02020603050405020304" pitchFamily="18" charset="0"/>
                <a:ea typeface="Times New Roman" panose="02020603050405020304" pitchFamily="18" charset="0"/>
              </a:rPr>
              <a:t> </a:t>
            </a:r>
            <a:r>
              <a:rPr lang="en-US" sz="1600" spc="0" dirty="0">
                <a:effectLst/>
                <a:latin typeface="Times New Roman" panose="02020603050405020304" pitchFamily="18" charset="0"/>
                <a:ea typeface="Times New Roman" panose="02020603050405020304" pitchFamily="18" charset="0"/>
              </a:rPr>
              <a:t>(for</a:t>
            </a:r>
            <a:r>
              <a:rPr lang="en-US" sz="1600" spc="-10" dirty="0">
                <a:effectLst/>
                <a:latin typeface="Times New Roman" panose="02020603050405020304" pitchFamily="18" charset="0"/>
                <a:ea typeface="Times New Roman" panose="02020603050405020304" pitchFamily="18" charset="0"/>
              </a:rPr>
              <a:t> </a:t>
            </a:r>
            <a:r>
              <a:rPr lang="en-US" sz="1600" spc="0" dirty="0">
                <a:effectLst/>
                <a:latin typeface="Times New Roman" panose="02020603050405020304" pitchFamily="18" charset="0"/>
                <a:ea typeface="Times New Roman" panose="02020603050405020304" pitchFamily="18" charset="0"/>
              </a:rPr>
              <a:t>deep learning</a:t>
            </a:r>
            <a:r>
              <a:rPr lang="en-US" sz="1600" spc="-20" dirty="0">
                <a:effectLst/>
                <a:latin typeface="Times New Roman" panose="02020603050405020304" pitchFamily="18" charset="0"/>
                <a:ea typeface="Times New Roman" panose="02020603050405020304" pitchFamily="18" charset="0"/>
              </a:rPr>
              <a:t> </a:t>
            </a:r>
            <a:r>
              <a:rPr lang="en-US" sz="1600" spc="0" dirty="0">
                <a:effectLst/>
                <a:latin typeface="Times New Roman" panose="02020603050405020304" pitchFamily="18" charset="0"/>
                <a:ea typeface="Times New Roman" panose="02020603050405020304" pitchFamily="18" charset="0"/>
              </a:rPr>
              <a:t>components</a:t>
            </a:r>
            <a:r>
              <a:rPr lang="en-US" sz="1600" spc="-5" dirty="0">
                <a:effectLst/>
                <a:latin typeface="Times New Roman" panose="02020603050405020304" pitchFamily="18" charset="0"/>
                <a:ea typeface="Times New Roman" panose="02020603050405020304" pitchFamily="18" charset="0"/>
              </a:rPr>
              <a:t> </a:t>
            </a:r>
            <a:r>
              <a:rPr lang="en-US" sz="1600" spc="0" dirty="0">
                <a:effectLst/>
                <a:latin typeface="Times New Roman" panose="02020603050405020304" pitchFamily="18" charset="0"/>
                <a:ea typeface="Times New Roman" panose="02020603050405020304" pitchFamily="18" charset="0"/>
              </a:rPr>
              <a:t>if</a:t>
            </a:r>
            <a:r>
              <a:rPr lang="en-US" sz="1600" spc="-50" dirty="0">
                <a:effectLst/>
                <a:latin typeface="Times New Roman" panose="02020603050405020304" pitchFamily="18" charset="0"/>
                <a:ea typeface="Times New Roman" panose="02020603050405020304" pitchFamily="18" charset="0"/>
              </a:rPr>
              <a:t> </a:t>
            </a:r>
            <a:r>
              <a:rPr lang="en-US" sz="1600" spc="-10" dirty="0">
                <a:effectLst/>
                <a:latin typeface="Times New Roman" panose="02020603050405020304" pitchFamily="18" charset="0"/>
                <a:ea typeface="Times New Roman" panose="02020603050405020304" pitchFamily="18" charset="0"/>
              </a:rPr>
              <a:t>applicable)</a:t>
            </a:r>
            <a:endParaRPr lang="en-US" sz="1400" spc="0" dirty="0">
              <a:effectLst/>
              <a:latin typeface="Times New Roman" panose="02020603050405020304" pitchFamily="18" charset="0"/>
              <a:ea typeface="Times New Roman" panose="02020603050405020304" pitchFamily="18" charset="0"/>
            </a:endParaRPr>
          </a:p>
          <a:p>
            <a:pPr marL="342900" marR="0" lvl="0" indent="-342900">
              <a:spcBef>
                <a:spcPts val="685"/>
              </a:spcBef>
              <a:spcAft>
                <a:spcPts val="0"/>
              </a:spcAft>
              <a:buSzPts val="1200"/>
              <a:buFont typeface="Times New Roman" panose="02020603050405020304" pitchFamily="18" charset="0"/>
              <a:buChar char="•"/>
              <a:tabLst>
                <a:tab pos="452755" algn="l"/>
              </a:tabLst>
            </a:pPr>
            <a:r>
              <a:rPr lang="en-US" sz="1600" spc="0" dirty="0">
                <a:effectLst/>
                <a:latin typeface="Times New Roman" panose="02020603050405020304" pitchFamily="18" charset="0"/>
                <a:ea typeface="Times New Roman" panose="02020603050405020304" pitchFamily="18" charset="0"/>
              </a:rPr>
              <a:t>Flask</a:t>
            </a:r>
            <a:r>
              <a:rPr lang="en-US" sz="1600" spc="-25" dirty="0">
                <a:effectLst/>
                <a:latin typeface="Times New Roman" panose="02020603050405020304" pitchFamily="18" charset="0"/>
                <a:ea typeface="Times New Roman" panose="02020603050405020304" pitchFamily="18" charset="0"/>
              </a:rPr>
              <a:t> </a:t>
            </a:r>
            <a:r>
              <a:rPr lang="en-US" sz="1600" spc="0" dirty="0">
                <a:effectLst/>
                <a:latin typeface="Times New Roman" panose="02020603050405020304" pitchFamily="18" charset="0"/>
                <a:ea typeface="Times New Roman" panose="02020603050405020304" pitchFamily="18" charset="0"/>
              </a:rPr>
              <a:t>(for</a:t>
            </a:r>
            <a:r>
              <a:rPr lang="en-US" sz="1600" spc="-5" dirty="0">
                <a:effectLst/>
                <a:latin typeface="Times New Roman" panose="02020603050405020304" pitchFamily="18" charset="0"/>
                <a:ea typeface="Times New Roman" panose="02020603050405020304" pitchFamily="18" charset="0"/>
              </a:rPr>
              <a:t> </a:t>
            </a:r>
            <a:r>
              <a:rPr lang="en-US" sz="1600" spc="0" dirty="0">
                <a:effectLst/>
                <a:latin typeface="Times New Roman" panose="02020603050405020304" pitchFamily="18" charset="0"/>
                <a:ea typeface="Times New Roman" panose="02020603050405020304" pitchFamily="18" charset="0"/>
              </a:rPr>
              <a:t>web-based</a:t>
            </a:r>
            <a:r>
              <a:rPr lang="en-US" sz="1600" spc="10" dirty="0">
                <a:effectLst/>
                <a:latin typeface="Times New Roman" panose="02020603050405020304" pitchFamily="18" charset="0"/>
                <a:ea typeface="Times New Roman" panose="02020603050405020304" pitchFamily="18" charset="0"/>
              </a:rPr>
              <a:t> </a:t>
            </a:r>
            <a:r>
              <a:rPr lang="en-US" sz="1600" spc="0" dirty="0">
                <a:effectLst/>
                <a:latin typeface="Times New Roman" panose="02020603050405020304" pitchFamily="18" charset="0"/>
                <a:ea typeface="Times New Roman" panose="02020603050405020304" pitchFamily="18" charset="0"/>
              </a:rPr>
              <a:t>interface,</a:t>
            </a:r>
            <a:r>
              <a:rPr lang="en-US" sz="1600" spc="25" dirty="0">
                <a:effectLst/>
                <a:latin typeface="Times New Roman" panose="02020603050405020304" pitchFamily="18" charset="0"/>
                <a:ea typeface="Times New Roman" panose="02020603050405020304" pitchFamily="18" charset="0"/>
              </a:rPr>
              <a:t> </a:t>
            </a:r>
            <a:r>
              <a:rPr lang="en-US" sz="1600" spc="0" dirty="0">
                <a:effectLst/>
                <a:latin typeface="Times New Roman" panose="02020603050405020304" pitchFamily="18" charset="0"/>
                <a:ea typeface="Times New Roman" panose="02020603050405020304" pitchFamily="18" charset="0"/>
              </a:rPr>
              <a:t>if</a:t>
            </a:r>
            <a:r>
              <a:rPr lang="en-US" sz="1600" spc="-50" dirty="0">
                <a:effectLst/>
                <a:latin typeface="Times New Roman" panose="02020603050405020304" pitchFamily="18" charset="0"/>
                <a:ea typeface="Times New Roman" panose="02020603050405020304" pitchFamily="18" charset="0"/>
              </a:rPr>
              <a:t> </a:t>
            </a:r>
            <a:r>
              <a:rPr lang="en-US" sz="1600" spc="0" dirty="0">
                <a:effectLst/>
                <a:latin typeface="Times New Roman" panose="02020603050405020304" pitchFamily="18" charset="0"/>
                <a:ea typeface="Times New Roman" panose="02020603050405020304" pitchFamily="18" charset="0"/>
              </a:rPr>
              <a:t>deployed</a:t>
            </a:r>
            <a:r>
              <a:rPr lang="en-US" sz="1600" spc="-10" dirty="0">
                <a:effectLst/>
                <a:latin typeface="Times New Roman" panose="02020603050405020304" pitchFamily="18" charset="0"/>
                <a:ea typeface="Times New Roman" panose="02020603050405020304" pitchFamily="18" charset="0"/>
              </a:rPr>
              <a:t> </a:t>
            </a:r>
            <a:r>
              <a:rPr lang="en-US" sz="1600" spc="0" dirty="0">
                <a:effectLst/>
                <a:latin typeface="Times New Roman" panose="02020603050405020304" pitchFamily="18" charset="0"/>
                <a:ea typeface="Times New Roman" panose="02020603050405020304" pitchFamily="18" charset="0"/>
              </a:rPr>
              <a:t>as</a:t>
            </a:r>
            <a:r>
              <a:rPr lang="en-US" sz="1600" spc="-20" dirty="0">
                <a:effectLst/>
                <a:latin typeface="Times New Roman" panose="02020603050405020304" pitchFamily="18" charset="0"/>
                <a:ea typeface="Times New Roman" panose="02020603050405020304" pitchFamily="18" charset="0"/>
              </a:rPr>
              <a:t> </a:t>
            </a:r>
            <a:r>
              <a:rPr lang="en-US" sz="1600" spc="0" dirty="0">
                <a:effectLst/>
                <a:latin typeface="Times New Roman" panose="02020603050405020304" pitchFamily="18" charset="0"/>
                <a:ea typeface="Times New Roman" panose="02020603050405020304" pitchFamily="18" charset="0"/>
              </a:rPr>
              <a:t>a</a:t>
            </a:r>
            <a:r>
              <a:rPr lang="en-US" sz="1600" spc="-15" dirty="0">
                <a:effectLst/>
                <a:latin typeface="Times New Roman" panose="02020603050405020304" pitchFamily="18" charset="0"/>
                <a:ea typeface="Times New Roman" panose="02020603050405020304" pitchFamily="18" charset="0"/>
              </a:rPr>
              <a:t> </a:t>
            </a:r>
            <a:r>
              <a:rPr lang="en-US" sz="1600" spc="0" dirty="0">
                <a:effectLst/>
                <a:latin typeface="Times New Roman" panose="02020603050405020304" pitchFamily="18" charset="0"/>
                <a:ea typeface="Times New Roman" panose="02020603050405020304" pitchFamily="18" charset="0"/>
              </a:rPr>
              <a:t>web</a:t>
            </a:r>
            <a:r>
              <a:rPr lang="en-US" sz="1600" spc="-30" dirty="0">
                <a:effectLst/>
                <a:latin typeface="Times New Roman" panose="02020603050405020304" pitchFamily="18" charset="0"/>
                <a:ea typeface="Times New Roman" panose="02020603050405020304" pitchFamily="18" charset="0"/>
              </a:rPr>
              <a:t> </a:t>
            </a:r>
            <a:r>
              <a:rPr lang="en-US" sz="1600" spc="-10" dirty="0">
                <a:effectLst/>
                <a:latin typeface="Times New Roman" panose="02020603050405020304" pitchFamily="18" charset="0"/>
                <a:ea typeface="Times New Roman" panose="02020603050405020304" pitchFamily="18" charset="0"/>
              </a:rPr>
              <a:t>application)</a:t>
            </a:r>
            <a:endParaRPr lang="en-US" sz="1400" spc="0" dirty="0">
              <a:effectLst/>
              <a:latin typeface="Times New Roman" panose="02020603050405020304" pitchFamily="18" charset="0"/>
              <a:ea typeface="Times New Roman" panose="02020603050405020304" pitchFamily="18" charset="0"/>
            </a:endParaRPr>
          </a:p>
          <a:p>
            <a:pPr marL="342900" marR="0" lvl="0" indent="-342900">
              <a:spcBef>
                <a:spcPts val="680"/>
              </a:spcBef>
              <a:spcAft>
                <a:spcPts val="0"/>
              </a:spcAft>
              <a:buSzPts val="1200"/>
              <a:buFont typeface="Times New Roman" panose="02020603050405020304" pitchFamily="18" charset="0"/>
              <a:buChar char="•"/>
              <a:tabLst>
                <a:tab pos="452755" algn="l"/>
              </a:tabLst>
            </a:pPr>
            <a:r>
              <a:rPr lang="en-US" sz="1600" spc="0" dirty="0">
                <a:effectLst/>
                <a:latin typeface="Times New Roman" panose="02020603050405020304" pitchFamily="18" charset="0"/>
                <a:ea typeface="Times New Roman" panose="02020603050405020304" pitchFamily="18" charset="0"/>
              </a:rPr>
              <a:t>Matplotlib</a:t>
            </a:r>
            <a:r>
              <a:rPr lang="en-US" sz="1600" spc="-25" dirty="0">
                <a:effectLst/>
                <a:latin typeface="Times New Roman" panose="02020603050405020304" pitchFamily="18" charset="0"/>
                <a:ea typeface="Times New Roman" panose="02020603050405020304" pitchFamily="18" charset="0"/>
              </a:rPr>
              <a:t> </a:t>
            </a:r>
            <a:r>
              <a:rPr lang="en-US" sz="1600" spc="0" dirty="0">
                <a:effectLst/>
                <a:latin typeface="Times New Roman" panose="02020603050405020304" pitchFamily="18" charset="0"/>
                <a:ea typeface="Times New Roman" panose="02020603050405020304" pitchFamily="18" charset="0"/>
              </a:rPr>
              <a:t>(for</a:t>
            </a:r>
            <a:r>
              <a:rPr lang="en-US" sz="1600" spc="-20" dirty="0">
                <a:effectLst/>
                <a:latin typeface="Times New Roman" panose="02020603050405020304" pitchFamily="18" charset="0"/>
                <a:ea typeface="Times New Roman" panose="02020603050405020304" pitchFamily="18" charset="0"/>
              </a:rPr>
              <a:t> </a:t>
            </a:r>
            <a:r>
              <a:rPr lang="en-US" sz="1600" spc="0" dirty="0">
                <a:effectLst/>
                <a:latin typeface="Times New Roman" panose="02020603050405020304" pitchFamily="18" charset="0"/>
                <a:ea typeface="Times New Roman" panose="02020603050405020304" pitchFamily="18" charset="0"/>
              </a:rPr>
              <a:t>performance</a:t>
            </a:r>
            <a:r>
              <a:rPr lang="en-US" sz="1600" spc="-25" dirty="0">
                <a:effectLst/>
                <a:latin typeface="Times New Roman" panose="02020603050405020304" pitchFamily="18" charset="0"/>
                <a:ea typeface="Times New Roman" panose="02020603050405020304" pitchFamily="18" charset="0"/>
              </a:rPr>
              <a:t> </a:t>
            </a:r>
            <a:r>
              <a:rPr lang="en-US" sz="1600" spc="-10" dirty="0">
                <a:effectLst/>
                <a:latin typeface="Times New Roman" panose="02020603050405020304" pitchFamily="18" charset="0"/>
                <a:ea typeface="Times New Roman" panose="02020603050405020304" pitchFamily="18" charset="0"/>
              </a:rPr>
              <a:t>visualization)</a:t>
            </a:r>
            <a:endParaRPr lang="en-US" sz="1400" spc="0" dirty="0">
              <a:effectLst/>
              <a:latin typeface="Times New Roman" panose="02020603050405020304" pitchFamily="18" charset="0"/>
              <a:ea typeface="Times New Roman" panose="02020603050405020304" pitchFamily="18" charset="0"/>
            </a:endParaRPr>
          </a:p>
          <a:p>
            <a:endParaRPr lang="en-IN"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45515"/>
          </a:xfrm>
        </p:spPr>
        <p:txBody>
          <a:bodyPr>
            <a:normAutofit/>
          </a:bodyPr>
          <a:lstStyle/>
          <a:p>
            <a:r>
              <a:rPr lang="en-US" sz="3200" b="1" dirty="0"/>
              <a:t>DATA FLOW DIAGRAM:</a:t>
            </a:r>
            <a:endParaRPr lang="en-IN" sz="3200" b="1" dirty="0"/>
          </a:p>
        </p:txBody>
      </p:sp>
      <p:pic>
        <p:nvPicPr>
          <p:cNvPr id="5" name="Image 13" descr="IMG_256">
            <a:extLst>
              <a:ext uri="{FF2B5EF4-FFF2-40B4-BE49-F238E27FC236}">
                <a16:creationId xmlns:a16="http://schemas.microsoft.com/office/drawing/2014/main" id="{7F01AF19-D8AD-9258-E9B1-4E17A8297AE9}"/>
              </a:ext>
            </a:extLst>
          </p:cNvPr>
          <p:cNvPicPr>
            <a:picLocks/>
          </p:cNvPicPr>
          <p:nvPr/>
        </p:nvPicPr>
        <p:blipFill>
          <a:blip r:embed="rId2" cstate="print"/>
          <a:stretch>
            <a:fillRect/>
          </a:stretch>
        </p:blipFill>
        <p:spPr>
          <a:xfrm>
            <a:off x="4612874" y="968815"/>
            <a:ext cx="5100294" cy="577721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solidFill>
                  <a:srgbClr val="FF0000"/>
                </a:solidFill>
              </a:rPr>
              <a:t>RESULT:</a:t>
            </a:r>
            <a:endParaRPr lang="en-US" altLang="en-IN" sz="3600" b="1" dirty="0">
              <a:solidFill>
                <a:srgbClr val="FF0000"/>
              </a:solidFill>
            </a:endParaRPr>
          </a:p>
        </p:txBody>
      </p:sp>
      <p:sp>
        <p:nvSpPr>
          <p:cNvPr id="4" name="Rectangle 2"/>
          <p:cNvSpPr>
            <a:spLocks noChangeArrowheads="1"/>
          </p:cNvSpPr>
          <p:nvPr/>
        </p:nvSpPr>
        <p:spPr bwMode="auto">
          <a:xfrm>
            <a:off x="838200" y="1160463"/>
            <a:ext cx="6291580" cy="706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run project double click on run.bat file to get below screenscreen</a:t>
            </a:r>
          </a:p>
        </p:txBody>
      </p:sp>
      <p:sp>
        <p:nvSpPr>
          <p:cNvPr id="8" name="TextBox 7"/>
          <p:cNvSpPr txBox="1"/>
          <p:nvPr/>
        </p:nvSpPr>
        <p:spPr>
          <a:xfrm>
            <a:off x="953135" y="6036310"/>
            <a:ext cx="9777730" cy="821055"/>
          </a:xfrm>
          <a:prstGeom prst="rect">
            <a:avLst/>
          </a:prstGeom>
          <a:noFill/>
        </p:spPr>
        <p:txBody>
          <a:bodyPr wrap="square" rtlCol="0">
            <a:noAutofit/>
          </a:bodyPr>
          <a:lstStyle/>
          <a:p>
            <a:pPr indent="0" algn="just">
              <a:lnSpc>
                <a:spcPct val="107000"/>
              </a:lnSpc>
              <a:spcAft>
                <a:spcPts val="800"/>
              </a:spcAft>
              <a:buFont typeface="Arial" panose="020B0604020202020204" pitchFamily="34" charset="0"/>
              <a:buNone/>
            </a:pPr>
            <a:r>
              <a:rPr lang="en-US" altLang="en-US" sz="2000" dirty="0">
                <a:solidFill>
                  <a:schemeClr val="tx1"/>
                </a:solidFill>
                <a:effectLst/>
                <a:uFillTx/>
                <a:latin typeface="Times New Roman" panose="02020603050405020304" pitchFamily="18" charset="0"/>
                <a:ea typeface="Calibri" panose="020F0502020204030204" pitchFamily="34" charset="0"/>
                <a:cs typeface="Times New Roman" panose="02020603050405020304" pitchFamily="18" charset="0"/>
              </a:rPr>
              <a:t>To run project </a:t>
            </a:r>
            <a:r>
              <a:rPr lang="en-US" altLang="en-US" sz="2000" dirty="0">
                <a:solidFill>
                  <a:schemeClr val="tx1"/>
                </a:solidFill>
                <a:effectLst/>
                <a:uFillTx/>
                <a:latin typeface="Times New Roman" panose="02020603050405020304" pitchFamily="18" charset="0"/>
                <a:ea typeface="Calibri" panose="020F0502020204030204" pitchFamily="34" charset="0"/>
                <a:cs typeface="Consolas" panose="020B0609020204030204" charset="0"/>
              </a:rPr>
              <a:t>double </a:t>
            </a:r>
            <a:r>
              <a:rPr lang="en-US" altLang="en-US" sz="2000" dirty="0">
                <a:solidFill>
                  <a:schemeClr val="tx1"/>
                </a:solidFill>
                <a:effectLst/>
                <a:uFillTx/>
                <a:latin typeface="Times New Roman" panose="02020603050405020304" pitchFamily="18" charset="0"/>
                <a:ea typeface="Calibri" panose="020F0502020204030204" pitchFamily="34" charset="0"/>
                <a:cs typeface="Times New Roman" panose="02020603050405020304" pitchFamily="18" charset="0"/>
              </a:rPr>
              <a:t>click on run.bat file to get below screen</a:t>
            </a:r>
          </a:p>
        </p:txBody>
      </p:sp>
      <p:pic>
        <p:nvPicPr>
          <p:cNvPr id="3" name="Image 14">
            <a:extLst>
              <a:ext uri="{FF2B5EF4-FFF2-40B4-BE49-F238E27FC236}">
                <a16:creationId xmlns:a16="http://schemas.microsoft.com/office/drawing/2014/main" id="{1EDD9455-BB5C-9691-DBCD-4F01DE505769}"/>
              </a:ext>
            </a:extLst>
          </p:cNvPr>
          <p:cNvPicPr>
            <a:picLocks/>
          </p:cNvPicPr>
          <p:nvPr/>
        </p:nvPicPr>
        <p:blipFill>
          <a:blip r:embed="rId2" cstate="print"/>
          <a:stretch>
            <a:fillRect/>
          </a:stretch>
        </p:blipFill>
        <p:spPr>
          <a:xfrm>
            <a:off x="861413" y="2166144"/>
            <a:ext cx="9961173" cy="32181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892175" y="5669915"/>
            <a:ext cx="9109075" cy="1188085"/>
          </a:xfrm>
          <a:prstGeom prst="rect">
            <a:avLst/>
          </a:prstGeom>
        </p:spPr>
        <p:txBody>
          <a:bodyPr>
            <a:noAutofit/>
          </a:bodyPr>
          <a:lstStyle/>
          <a:p>
            <a:pPr algn="just" defTabSz="266700">
              <a:lnSpc>
                <a:spcPct val="107000"/>
              </a:lnSpc>
              <a:spcAft>
                <a:spcPts val="800"/>
              </a:spcAft>
            </a:pPr>
            <a:r>
              <a:rPr sz="2000">
                <a:solidFill>
                  <a:schemeClr val="tx1"/>
                </a:solidFill>
                <a:uFillTx/>
                <a:latin typeface="Times New Roman" panose="02020603050405020304"/>
                <a:ea typeface="Calibri" panose="020F0502020204030204"/>
              </a:rPr>
              <a:t>In above screen selecting and uploading entire ‘Dataset’ folder and then click on ‘Select Folder’ button to load dataset and get below output</a:t>
            </a:r>
          </a:p>
        </p:txBody>
      </p:sp>
      <p:pic>
        <p:nvPicPr>
          <p:cNvPr id="3" name="Image 15">
            <a:extLst>
              <a:ext uri="{FF2B5EF4-FFF2-40B4-BE49-F238E27FC236}">
                <a16:creationId xmlns:a16="http://schemas.microsoft.com/office/drawing/2014/main" id="{7132C0AD-AF9F-2EFB-B1C9-40A384C4ACBB}"/>
              </a:ext>
            </a:extLst>
          </p:cNvPr>
          <p:cNvPicPr>
            <a:picLocks/>
          </p:cNvPicPr>
          <p:nvPr/>
        </p:nvPicPr>
        <p:blipFill>
          <a:blip r:embed="rId2" cstate="print"/>
          <a:stretch>
            <a:fillRect/>
          </a:stretch>
        </p:blipFill>
        <p:spPr>
          <a:xfrm>
            <a:off x="1278194" y="324465"/>
            <a:ext cx="7638476" cy="47136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5F842-F801-BC58-D12E-47F67C1FB0F2}"/>
              </a:ext>
            </a:extLst>
          </p:cNvPr>
          <p:cNvSpPr>
            <a:spLocks noGrp="1"/>
          </p:cNvSpPr>
          <p:nvPr>
            <p:ph type="title"/>
          </p:nvPr>
        </p:nvSpPr>
        <p:spPr>
          <a:xfrm>
            <a:off x="838200" y="365125"/>
            <a:ext cx="10515600" cy="1168707"/>
          </a:xfrm>
        </p:spPr>
        <p:txBody>
          <a:bodyPr/>
          <a:lstStyle/>
          <a:p>
            <a:pPr algn="ctr"/>
            <a:r>
              <a:rPr lang="en-US" b="1" dirty="0">
                <a:solidFill>
                  <a:srgbClr val="FF0000"/>
                </a:solidFill>
              </a:rPr>
              <a:t>CONCLUSION</a:t>
            </a:r>
            <a:endParaRPr lang="en-IN" b="1" dirty="0">
              <a:solidFill>
                <a:srgbClr val="FF0000"/>
              </a:solidFill>
            </a:endParaRPr>
          </a:p>
        </p:txBody>
      </p:sp>
      <p:sp>
        <p:nvSpPr>
          <p:cNvPr id="9" name="Rectangle 6">
            <a:extLst>
              <a:ext uri="{FF2B5EF4-FFF2-40B4-BE49-F238E27FC236}">
                <a16:creationId xmlns:a16="http://schemas.microsoft.com/office/drawing/2014/main" id="{9544BB90-3AD7-4CA6-EF85-9FE807E8D42D}"/>
              </a:ext>
            </a:extLst>
          </p:cNvPr>
          <p:cNvSpPr>
            <a:spLocks noChangeArrowheads="1"/>
          </p:cNvSpPr>
          <p:nvPr/>
        </p:nvSpPr>
        <p:spPr bwMode="auto">
          <a:xfrm>
            <a:off x="333375" y="1557327"/>
            <a:ext cx="10920874"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Problem Successfully Addressed —</a:t>
            </a:r>
            <a:r>
              <a:rPr kumimoji="0" lang="en-US" altLang="en-US" sz="1800" b="0" i="0" u="none" strike="noStrike" cap="none" normalizeH="0" baseline="0" dirty="0">
                <a:ln>
                  <a:noFill/>
                </a:ln>
                <a:solidFill>
                  <a:schemeClr val="tx1"/>
                </a:solidFill>
                <a:effectLst/>
                <a:latin typeface="Arial" panose="020B0604020202020204" pitchFamily="34" charset="0"/>
              </a:rPr>
              <a:t> This project successfully tackles two of the most dangerous digital threats of today — SMS spam and malicious URLs — by building one smart, unified, and automated detection system.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Machine Learning Proved Effective —</a:t>
            </a:r>
            <a:r>
              <a:rPr kumimoji="0" lang="en-US" altLang="en-US" sz="1800" b="0" i="0" u="none" strike="noStrike" cap="none" normalizeH="0" baseline="0" dirty="0">
                <a:ln>
                  <a:noFill/>
                </a:ln>
                <a:solidFill>
                  <a:schemeClr val="tx1"/>
                </a:solidFill>
                <a:effectLst/>
                <a:latin typeface="Arial" panose="020B0604020202020204" pitchFamily="34" charset="0"/>
              </a:rPr>
              <a:t> The use of Naive Bayes, Logistic Regression, and Random Forest classifiers demonstrated that machine learning is highly capable of accurately identifying spam and malicious content in real time.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Outstanding Performance Achieved —</a:t>
            </a:r>
            <a:r>
              <a:rPr kumimoji="0" lang="en-US" altLang="en-US" sz="1800" b="0" i="0" u="none" strike="noStrike" cap="none" normalizeH="0" baseline="0" dirty="0">
                <a:ln>
                  <a:noFill/>
                </a:ln>
                <a:solidFill>
                  <a:schemeClr val="tx1"/>
                </a:solidFill>
                <a:effectLst/>
                <a:latin typeface="Arial" panose="020B0604020202020204" pitchFamily="34" charset="0"/>
              </a:rPr>
              <a:t> The system achieved over 95% accuracy, precision, recall, and F1-score across all evaluation metrics, proving that it is highly reliable and ready for real-world deployment and use.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NLP Played a Key Role —</a:t>
            </a:r>
            <a:r>
              <a:rPr kumimoji="0" lang="en-US" altLang="en-US" sz="1800" b="0" i="0" u="none" strike="noStrike" cap="none" normalizeH="0" baseline="0" dirty="0">
                <a:ln>
                  <a:noFill/>
                </a:ln>
                <a:solidFill>
                  <a:schemeClr val="tx1"/>
                </a:solidFill>
                <a:effectLst/>
                <a:latin typeface="Arial" panose="020B0604020202020204" pitchFamily="34" charset="0"/>
              </a:rPr>
              <a:t> Natural Language Processing techniques like tokenization, stop-word removal, and TF-IDF vectorization were essential in transforming raw SMS text into meaningful features for accurate classification.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Dual Threat Detection in One System —</a:t>
            </a:r>
            <a:r>
              <a:rPr kumimoji="0" lang="en-US" altLang="en-US" sz="1800" b="0" i="0" u="none" strike="noStrike" cap="none" normalizeH="0" baseline="0" dirty="0">
                <a:ln>
                  <a:noFill/>
                </a:ln>
                <a:solidFill>
                  <a:schemeClr val="tx1"/>
                </a:solidFill>
                <a:effectLst/>
                <a:latin typeface="Arial" panose="020B0604020202020204" pitchFamily="34" charset="0"/>
              </a:rPr>
              <a:t> Unlike existing tools, this project uniquely combines both SMS spam detection and URL malicious classification into a single platform, offering comprehensive cybersecurity protection to all users. </a:t>
            </a:r>
          </a:p>
        </p:txBody>
      </p:sp>
    </p:spTree>
    <p:extLst>
      <p:ext uri="{BB962C8B-B14F-4D97-AF65-F5344CB8AC3E}">
        <p14:creationId xmlns:p14="http://schemas.microsoft.com/office/powerpoint/2010/main" val="1637993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DE4D5-6EB2-D26E-17A6-B8F16E07D893}"/>
              </a:ext>
            </a:extLst>
          </p:cNvPr>
          <p:cNvSpPr>
            <a:spLocks noGrp="1"/>
          </p:cNvSpPr>
          <p:nvPr>
            <p:ph type="title"/>
          </p:nvPr>
        </p:nvSpPr>
        <p:spPr/>
        <p:txBody>
          <a:bodyPr>
            <a:normAutofit/>
          </a:bodyPr>
          <a:lstStyle/>
          <a:p>
            <a:pPr algn="ctr"/>
            <a:r>
              <a:rPr lang="en-US" sz="3200" b="1" dirty="0">
                <a:solidFill>
                  <a:srgbClr val="FF0000"/>
                </a:solidFill>
              </a:rPr>
              <a:t>FUTURE SCOPE</a:t>
            </a:r>
            <a:endParaRPr lang="en-IN" sz="3200" b="1" dirty="0">
              <a:solidFill>
                <a:srgbClr val="FF0000"/>
              </a:solidFill>
            </a:endParaRPr>
          </a:p>
        </p:txBody>
      </p:sp>
      <p:sp>
        <p:nvSpPr>
          <p:cNvPr id="3" name="TextBox 2">
            <a:extLst>
              <a:ext uri="{FF2B5EF4-FFF2-40B4-BE49-F238E27FC236}">
                <a16:creationId xmlns:a16="http://schemas.microsoft.com/office/drawing/2014/main" id="{9C943AE1-430F-2810-B650-5AF09FBA22FB}"/>
              </a:ext>
            </a:extLst>
          </p:cNvPr>
          <p:cNvSpPr txBox="1"/>
          <p:nvPr/>
        </p:nvSpPr>
        <p:spPr>
          <a:xfrm>
            <a:off x="1431158" y="5308531"/>
            <a:ext cx="9146028" cy="1184344"/>
          </a:xfrm>
          <a:prstGeom prst="rect">
            <a:avLst/>
          </a:prstGeom>
          <a:noFill/>
        </p:spPr>
        <p:txBody>
          <a:bodyPr wrap="square" rtlCol="0">
            <a:spAutoFit/>
          </a:bodyPr>
          <a:lstStyle/>
          <a:p>
            <a:pPr indent="457200" algn="just">
              <a:lnSpc>
                <a:spcPct val="150000"/>
              </a:lnSpc>
              <a:spcAft>
                <a:spcPts val="800"/>
              </a:spcAft>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1">
            <a:extLst>
              <a:ext uri="{FF2B5EF4-FFF2-40B4-BE49-F238E27FC236}">
                <a16:creationId xmlns:a16="http://schemas.microsoft.com/office/drawing/2014/main" id="{2BCC39A4-D195-F9B8-693D-3BCC6C2B2196}"/>
              </a:ext>
            </a:extLst>
          </p:cNvPr>
          <p:cNvSpPr>
            <a:spLocks noChangeArrowheads="1"/>
          </p:cNvSpPr>
          <p:nvPr/>
        </p:nvSpPr>
        <p:spPr bwMode="auto">
          <a:xfrm>
            <a:off x="637202" y="1639351"/>
            <a:ext cx="10515601"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Deep Learning Integration —</a:t>
            </a:r>
            <a:r>
              <a:rPr kumimoji="0" lang="en-US" altLang="en-US" sz="1800" b="0" i="0" u="none" strike="noStrike" cap="none" normalizeH="0" baseline="0">
                <a:ln>
                  <a:noFill/>
                </a:ln>
                <a:solidFill>
                  <a:schemeClr val="tx1"/>
                </a:solidFill>
                <a:effectLst/>
                <a:latin typeface="Arial" panose="020B0604020202020204" pitchFamily="34" charset="0"/>
              </a:rPr>
              <a:t> Future versions of this system can incorporate advanced deep learning models like LSTM and BERT to understand the context and meaning of SMS messages more intelligently and accurately.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Real-Time Browser Extension —</a:t>
            </a:r>
            <a:r>
              <a:rPr kumimoji="0" lang="en-US" altLang="en-US" sz="1800" b="0" i="0" u="none" strike="noStrike" cap="none" normalizeH="0" baseline="0">
                <a:ln>
                  <a:noFill/>
                </a:ln>
                <a:solidFill>
                  <a:schemeClr val="tx1"/>
                </a:solidFill>
                <a:effectLst/>
                <a:latin typeface="Arial" panose="020B0604020202020204" pitchFamily="34" charset="0"/>
              </a:rPr>
              <a:t> The URL classification module can be extended into a live browser plugin that automatically scans and warns users about dangerous links before they even click on them.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Multilingual Spam Detection —</a:t>
            </a:r>
            <a:r>
              <a:rPr kumimoji="0" lang="en-US" altLang="en-US" sz="1800" b="0" i="0" u="none" strike="noStrike" cap="none" normalizeH="0" baseline="0">
                <a:ln>
                  <a:noFill/>
                </a:ln>
                <a:solidFill>
                  <a:schemeClr val="tx1"/>
                </a:solidFill>
                <a:effectLst/>
                <a:latin typeface="Arial" panose="020B0604020202020204" pitchFamily="34" charset="0"/>
              </a:rPr>
              <a:t> The current system works on English text, but future development can expand the training data to include multiple regional languages, making the system useful for a much wider global audience.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Mobile Application Development —</a:t>
            </a:r>
            <a:r>
              <a:rPr kumimoji="0" lang="en-US" altLang="en-US" sz="1800" b="0" i="0" u="none" strike="noStrike" cap="none" normalizeH="0" baseline="0">
                <a:ln>
                  <a:noFill/>
                </a:ln>
                <a:solidFill>
                  <a:schemeClr val="tx1"/>
                </a:solidFill>
                <a:effectLst/>
                <a:latin typeface="Arial" panose="020B0604020202020204" pitchFamily="34" charset="0"/>
              </a:rPr>
              <a:t> A dedicated Android or iOS mobile application can be built that monitors incoming SMS messages in real time and instantly alerts users whenever a spam or phishing message is detected.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API Integration for Platforms —</a:t>
            </a:r>
            <a:r>
              <a:rPr kumimoji="0" lang="en-US" altLang="en-US" sz="1800" b="0" i="0" u="none" strike="noStrike" cap="none" normalizeH="0" baseline="0">
                <a:ln>
                  <a:noFill/>
                </a:ln>
                <a:solidFill>
                  <a:schemeClr val="tx1"/>
                </a:solidFill>
                <a:effectLst/>
                <a:latin typeface="Arial" panose="020B0604020202020204" pitchFamily="34" charset="0"/>
              </a:rPr>
              <a:t> The detection engine can be exposed as a REST API so that messaging platforms, email services, banking applications, and enterprise security tools can easily plug it in and use it. </a:t>
            </a:r>
          </a:p>
        </p:txBody>
      </p:sp>
    </p:spTree>
    <p:extLst>
      <p:ext uri="{BB962C8B-B14F-4D97-AF65-F5344CB8AC3E}">
        <p14:creationId xmlns:p14="http://schemas.microsoft.com/office/powerpoint/2010/main" val="1110731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AC118-D75B-6C1C-6EAA-69A221A9FCB4}"/>
              </a:ext>
            </a:extLst>
          </p:cNvPr>
          <p:cNvSpPr>
            <a:spLocks noGrp="1"/>
          </p:cNvSpPr>
          <p:nvPr>
            <p:ph type="title"/>
          </p:nvPr>
        </p:nvSpPr>
        <p:spPr>
          <a:xfrm>
            <a:off x="759542" y="109487"/>
            <a:ext cx="10515600" cy="1178539"/>
          </a:xfrm>
        </p:spPr>
        <p:txBody>
          <a:bodyPr/>
          <a:lstStyle/>
          <a:p>
            <a:pPr algn="ctr"/>
            <a:r>
              <a:rPr lang="en-US" b="1" dirty="0">
                <a:solidFill>
                  <a:srgbClr val="FF0000"/>
                </a:solidFill>
              </a:rPr>
              <a:t>REFERENCE</a:t>
            </a:r>
            <a:endParaRPr lang="en-IN" b="1" dirty="0">
              <a:solidFill>
                <a:srgbClr val="FF0000"/>
              </a:solidFill>
            </a:endParaRPr>
          </a:p>
        </p:txBody>
      </p:sp>
      <p:sp>
        <p:nvSpPr>
          <p:cNvPr id="4" name="TextBox 3">
            <a:extLst>
              <a:ext uri="{FF2B5EF4-FFF2-40B4-BE49-F238E27FC236}">
                <a16:creationId xmlns:a16="http://schemas.microsoft.com/office/drawing/2014/main" id="{39D08479-4F59-8302-D6F7-582314E8E3BA}"/>
              </a:ext>
            </a:extLst>
          </p:cNvPr>
          <p:cNvSpPr txBox="1"/>
          <p:nvPr/>
        </p:nvSpPr>
        <p:spPr>
          <a:xfrm>
            <a:off x="560440" y="1130710"/>
            <a:ext cx="11267767" cy="5023426"/>
          </a:xfrm>
          <a:prstGeom prst="rect">
            <a:avLst/>
          </a:prstGeom>
          <a:noFill/>
        </p:spPr>
        <p:txBody>
          <a:bodyPr wrap="square" rtlCol="0">
            <a:spAutoFit/>
          </a:bodyPr>
          <a:lstStyle/>
          <a:p>
            <a:pPr marL="342900" marR="342900" lvl="0" indent="-342900">
              <a:lnSpc>
                <a:spcPct val="150000"/>
              </a:lnSpc>
              <a:spcBef>
                <a:spcPts val="0"/>
              </a:spcBef>
              <a:spcAft>
                <a:spcPts val="0"/>
              </a:spcAft>
              <a:buSzPts val="1200"/>
              <a:buFont typeface="Times New Roman" panose="02020603050405020304" pitchFamily="18" charset="0"/>
              <a:buAutoNum type="arabicPeriod"/>
              <a:tabLst>
                <a:tab pos="452755" algn="l"/>
              </a:tabLst>
            </a:pPr>
            <a:r>
              <a:rPr lang="en-US" sz="1800" spc="0" dirty="0">
                <a:effectLst/>
                <a:latin typeface="Times New Roman" panose="02020603050405020304" pitchFamily="18" charset="0"/>
                <a:ea typeface="Times New Roman" panose="02020603050405020304" pitchFamily="18" charset="0"/>
              </a:rPr>
              <a:t>Almeida,</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T.</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A.,</a:t>
            </a:r>
            <a:r>
              <a:rPr lang="en-US" sz="1800" spc="-30" dirty="0">
                <a:effectLst/>
                <a:latin typeface="Times New Roman" panose="02020603050405020304" pitchFamily="18" charset="0"/>
                <a:ea typeface="Times New Roman" panose="02020603050405020304" pitchFamily="18" charset="0"/>
              </a:rPr>
              <a:t> </a:t>
            </a:r>
            <a:r>
              <a:rPr lang="en-US" sz="1800" spc="0" dirty="0" err="1">
                <a:effectLst/>
                <a:latin typeface="Times New Roman" panose="02020603050405020304" pitchFamily="18" charset="0"/>
                <a:ea typeface="Times New Roman" panose="02020603050405020304" pitchFamily="18" charset="0"/>
              </a:rPr>
              <a:t>Yamakami</a:t>
            </a:r>
            <a:r>
              <a:rPr lang="en-US" sz="1800" spc="0" dirty="0">
                <a:effectLst/>
                <a:latin typeface="Times New Roman" panose="02020603050405020304" pitchFamily="18" charset="0"/>
                <a:ea typeface="Times New Roman" panose="02020603050405020304" pitchFamily="18" charset="0"/>
              </a:rPr>
              <a:t>, A.,</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&amp;</a:t>
            </a:r>
            <a:r>
              <a:rPr lang="en-US" sz="1800" spc="-4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de</a:t>
            </a:r>
            <a:r>
              <a:rPr lang="en-US" sz="1800" spc="-2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Souza,</a:t>
            </a:r>
            <a:r>
              <a:rPr lang="en-US" sz="1800" spc="-3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J.</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A.</a:t>
            </a:r>
            <a:r>
              <a:rPr lang="en-US" sz="1800" spc="-3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(2011).</a:t>
            </a:r>
            <a:r>
              <a:rPr lang="en-US" sz="1800" spc="-3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SMS</a:t>
            </a:r>
            <a:r>
              <a:rPr lang="en-US" sz="1800" spc="-1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Spam</a:t>
            </a:r>
            <a:r>
              <a:rPr lang="en-US" sz="1800" spc="-5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Filtering:</a:t>
            </a:r>
            <a:r>
              <a:rPr lang="en-US" sz="1800" spc="-1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Methods and Data Sets. Expert Systems with Applications, 39(10), 9899-9908. </a:t>
            </a:r>
            <a:r>
              <a:rPr lang="en-US" sz="1800" u="none" strike="noStrike" spc="-10" dirty="0">
                <a:solidFill>
                  <a:srgbClr val="0000FF"/>
                </a:solidFill>
                <a:effectLst/>
                <a:latin typeface="Times New Roman" panose="02020603050405020304" pitchFamily="18" charset="0"/>
                <a:ea typeface="Times New Roman" panose="02020603050405020304" pitchFamily="18" charset="0"/>
                <a:hlinkClick r:id="rId2"/>
              </a:rPr>
              <a:t>https://doi.org/10.1016/j.eswa.2012.03.011</a:t>
            </a:r>
            <a:endParaRPr lang="en-US" sz="1800" spc="0" dirty="0">
              <a:effectLst/>
              <a:latin typeface="Times New Roman" panose="02020603050405020304" pitchFamily="18" charset="0"/>
              <a:ea typeface="Times New Roman" panose="02020603050405020304" pitchFamily="18" charset="0"/>
            </a:endParaRPr>
          </a:p>
          <a:p>
            <a:pPr marL="342900" marR="284480" lvl="0" indent="-342900">
              <a:lnSpc>
                <a:spcPct val="150000"/>
              </a:lnSpc>
              <a:spcBef>
                <a:spcPts val="760"/>
              </a:spcBef>
              <a:spcAft>
                <a:spcPts val="0"/>
              </a:spcAft>
              <a:buSzPts val="1200"/>
              <a:buFont typeface="Times New Roman" panose="02020603050405020304" pitchFamily="18" charset="0"/>
              <a:buAutoNum type="arabicPeriod"/>
              <a:tabLst>
                <a:tab pos="452755" algn="l"/>
              </a:tabLst>
            </a:pPr>
            <a:r>
              <a:rPr lang="en-US" sz="1800" spc="0" dirty="0">
                <a:effectLst/>
                <a:latin typeface="Times New Roman" panose="02020603050405020304" pitchFamily="18" charset="0"/>
                <a:ea typeface="Times New Roman" panose="02020603050405020304" pitchFamily="18" charset="0"/>
              </a:rPr>
              <a:t>Almeida, T. A.,</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Hidalgo, J. M.</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G., &amp;</a:t>
            </a:r>
            <a:r>
              <a:rPr lang="en-US" sz="1800" spc="-15" dirty="0">
                <a:effectLst/>
                <a:latin typeface="Times New Roman" panose="02020603050405020304" pitchFamily="18" charset="0"/>
                <a:ea typeface="Times New Roman" panose="02020603050405020304" pitchFamily="18" charset="0"/>
              </a:rPr>
              <a:t> </a:t>
            </a:r>
            <a:r>
              <a:rPr lang="en-US" sz="1800" spc="0" dirty="0" err="1">
                <a:effectLst/>
                <a:latin typeface="Times New Roman" panose="02020603050405020304" pitchFamily="18" charset="0"/>
                <a:ea typeface="Times New Roman" panose="02020603050405020304" pitchFamily="18" charset="0"/>
              </a:rPr>
              <a:t>Yamakami</a:t>
            </a:r>
            <a:r>
              <a:rPr lang="en-US" sz="1800" spc="0" dirty="0">
                <a:effectLst/>
                <a:latin typeface="Times New Roman" panose="02020603050405020304" pitchFamily="18" charset="0"/>
                <a:ea typeface="Times New Roman" panose="02020603050405020304" pitchFamily="18" charset="0"/>
              </a:rPr>
              <a:t>, A. (2013).</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Contributions to SMS Spam Filtering:</a:t>
            </a:r>
            <a:r>
              <a:rPr lang="en-US" sz="1800" spc="-1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New</a:t>
            </a:r>
            <a:r>
              <a:rPr lang="en-US" sz="1800" spc="-1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Collection</a:t>
            </a:r>
            <a:r>
              <a:rPr lang="en-US" sz="1800" spc="-3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and</a:t>
            </a:r>
            <a:r>
              <a:rPr lang="en-US" sz="1800" spc="-1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Results. Proceedings</a:t>
            </a:r>
            <a:r>
              <a:rPr lang="en-US" sz="1800" spc="-2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of</a:t>
            </a:r>
            <a:r>
              <a:rPr lang="en-US" sz="1800" spc="-5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the</a:t>
            </a:r>
            <a:r>
              <a:rPr lang="en-US" sz="1800" spc="-1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11th</a:t>
            </a:r>
            <a:r>
              <a:rPr lang="en-US" sz="1800" spc="-3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ACM</a:t>
            </a:r>
            <a:r>
              <a:rPr lang="en-US" sz="1800" spc="-2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Symposium</a:t>
            </a:r>
            <a:r>
              <a:rPr lang="en-US" sz="1800" spc="-3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on</a:t>
            </a:r>
            <a:r>
              <a:rPr lang="en-US" sz="1800" spc="-3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Document Engineering, 259-262. </a:t>
            </a:r>
            <a:r>
              <a:rPr lang="en-US" sz="1800" u="none" strike="noStrike" spc="0" dirty="0">
                <a:solidFill>
                  <a:srgbClr val="0000FF"/>
                </a:solidFill>
                <a:effectLst/>
                <a:latin typeface="Times New Roman" panose="02020603050405020304" pitchFamily="18" charset="0"/>
                <a:ea typeface="Times New Roman" panose="02020603050405020304" pitchFamily="18" charset="0"/>
                <a:hlinkClick r:id="rId3"/>
              </a:rPr>
              <a:t>https://doi.org/10.1145/2494266.2494291</a:t>
            </a:r>
            <a:endParaRPr lang="en-US" sz="1800" spc="0" dirty="0">
              <a:effectLst/>
              <a:latin typeface="Times New Roman" panose="02020603050405020304" pitchFamily="18" charset="0"/>
              <a:ea typeface="Times New Roman" panose="02020603050405020304" pitchFamily="18" charset="0"/>
            </a:endParaRPr>
          </a:p>
          <a:p>
            <a:pPr marL="342900" marR="821055" lvl="0" indent="-342900">
              <a:lnSpc>
                <a:spcPct val="150000"/>
              </a:lnSpc>
              <a:spcBef>
                <a:spcPts val="760"/>
              </a:spcBef>
              <a:spcAft>
                <a:spcPts val="0"/>
              </a:spcAft>
              <a:buSzPts val="1200"/>
              <a:buFont typeface="Times New Roman" panose="02020603050405020304" pitchFamily="18" charset="0"/>
              <a:buAutoNum type="arabicPeriod"/>
              <a:tabLst>
                <a:tab pos="452755" algn="l"/>
              </a:tabLst>
            </a:pPr>
            <a:r>
              <a:rPr lang="en-US" sz="1800" spc="0" dirty="0">
                <a:effectLst/>
                <a:latin typeface="Times New Roman" panose="02020603050405020304" pitchFamily="18" charset="0"/>
                <a:ea typeface="Times New Roman" panose="02020603050405020304" pitchFamily="18" charset="0"/>
              </a:rPr>
              <a:t>Zhang,</a:t>
            </a:r>
            <a:r>
              <a:rPr lang="en-US" sz="1800" spc="-1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Y.,</a:t>
            </a:r>
            <a:r>
              <a:rPr lang="en-US" sz="1800" spc="-3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&amp;</a:t>
            </a:r>
            <a:r>
              <a:rPr lang="en-US" sz="1800" spc="-4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Hong,</a:t>
            </a:r>
            <a:r>
              <a:rPr lang="en-US" sz="1800" spc="-1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J.</a:t>
            </a:r>
            <a:r>
              <a:rPr lang="en-US" sz="1800" spc="-3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(2015). Detecting</a:t>
            </a:r>
            <a:r>
              <a:rPr lang="en-US" sz="1800" spc="-2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Malicious</a:t>
            </a:r>
            <a:r>
              <a:rPr lang="en-US" sz="1800" spc="-1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URLs</a:t>
            </a:r>
            <a:r>
              <a:rPr lang="en-US" sz="1800" spc="-3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via</a:t>
            </a:r>
            <a:r>
              <a:rPr lang="en-US" sz="1800" spc="-2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Machine</a:t>
            </a:r>
            <a:r>
              <a:rPr lang="en-US" sz="1800" spc="-2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Learning. International Journal of Computer Applications, 127(12), 1-6. </a:t>
            </a:r>
            <a:r>
              <a:rPr lang="en-US" sz="1800" u="none" strike="noStrike" spc="-10" dirty="0">
                <a:solidFill>
                  <a:srgbClr val="0000FF"/>
                </a:solidFill>
                <a:effectLst/>
                <a:latin typeface="Times New Roman" panose="02020603050405020304" pitchFamily="18" charset="0"/>
                <a:ea typeface="Times New Roman" panose="02020603050405020304" pitchFamily="18" charset="0"/>
                <a:hlinkClick r:id="rId4"/>
              </a:rPr>
              <a:t>https://doi.org/10.5120/ijca2015906499</a:t>
            </a:r>
            <a:endParaRPr lang="en-US" sz="1800" spc="0" dirty="0">
              <a:effectLst/>
              <a:latin typeface="Times New Roman" panose="02020603050405020304" pitchFamily="18" charset="0"/>
              <a:ea typeface="Times New Roman" panose="02020603050405020304" pitchFamily="18" charset="0"/>
            </a:endParaRPr>
          </a:p>
          <a:p>
            <a:pPr marL="342900" marR="207645" lvl="0" indent="-342900">
              <a:lnSpc>
                <a:spcPct val="150000"/>
              </a:lnSpc>
              <a:spcBef>
                <a:spcPts val="760"/>
              </a:spcBef>
              <a:spcAft>
                <a:spcPts val="0"/>
              </a:spcAft>
              <a:buSzPts val="1200"/>
              <a:buFont typeface="Times New Roman" panose="02020603050405020304" pitchFamily="18" charset="0"/>
              <a:buAutoNum type="arabicPeriod"/>
              <a:tabLst>
                <a:tab pos="452755" algn="l"/>
              </a:tabLst>
            </a:pPr>
            <a:r>
              <a:rPr lang="en-US" sz="1800" spc="0" dirty="0">
                <a:effectLst/>
                <a:latin typeface="Times New Roman" panose="02020603050405020304" pitchFamily="18" charset="0"/>
                <a:ea typeface="Times New Roman" panose="02020603050405020304" pitchFamily="18" charset="0"/>
              </a:rPr>
              <a:t>Ma,</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J.,</a:t>
            </a:r>
            <a:r>
              <a:rPr lang="en-US" sz="1800" spc="-3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Saul,</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L.</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K.,</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Savage,</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S.,</a:t>
            </a:r>
            <a:r>
              <a:rPr lang="en-US" sz="1800" spc="-3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&amp;</a:t>
            </a:r>
            <a:r>
              <a:rPr lang="en-US" sz="1800" spc="-4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Voelker,</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G.</a:t>
            </a:r>
            <a:r>
              <a:rPr lang="en-US" sz="1800" spc="-1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M.</a:t>
            </a:r>
            <a:r>
              <a:rPr lang="en-US" sz="1800" spc="-3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(2009).</a:t>
            </a:r>
            <a:r>
              <a:rPr lang="en-US" sz="1800" spc="-3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Identifying</a:t>
            </a:r>
            <a:r>
              <a:rPr lang="en-US" sz="1800" spc="-1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Suspicious</a:t>
            </a:r>
            <a:r>
              <a:rPr lang="en-US" sz="1800" spc="-2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URLs:</a:t>
            </a:r>
            <a:r>
              <a:rPr lang="en-US" sz="1800" spc="-1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An Application of Large-Scale Online Learning. Proceedings of the 26th Annual International Conference on Machine Learning, 681-688.</a:t>
            </a:r>
          </a:p>
          <a:p>
            <a:pPr marL="342900" marR="116840" lvl="0" indent="-342900">
              <a:lnSpc>
                <a:spcPct val="150000"/>
              </a:lnSpc>
              <a:spcBef>
                <a:spcPts val="755"/>
              </a:spcBef>
              <a:spcAft>
                <a:spcPts val="0"/>
              </a:spcAft>
              <a:buSzPts val="1200"/>
              <a:buFont typeface="Times New Roman" panose="02020603050405020304" pitchFamily="18" charset="0"/>
              <a:buAutoNum type="arabicPeriod"/>
              <a:tabLst>
                <a:tab pos="452755" algn="l"/>
              </a:tabLst>
            </a:pPr>
            <a:r>
              <a:rPr lang="en-US" sz="1800" spc="0" dirty="0">
                <a:effectLst/>
                <a:latin typeface="Times New Roman" panose="02020603050405020304" pitchFamily="18" charset="0"/>
                <a:ea typeface="Times New Roman" panose="02020603050405020304" pitchFamily="18" charset="0"/>
              </a:rPr>
              <a:t>Ye, D., Li, T., </a:t>
            </a:r>
            <a:r>
              <a:rPr lang="en-US" sz="1800" spc="0" dirty="0" err="1">
                <a:effectLst/>
                <a:latin typeface="Times New Roman" panose="02020603050405020304" pitchFamily="18" charset="0"/>
                <a:ea typeface="Times New Roman" panose="02020603050405020304" pitchFamily="18" charset="0"/>
              </a:rPr>
              <a:t>Adjeroh</a:t>
            </a:r>
            <a:r>
              <a:rPr lang="en-US" sz="1800" spc="0" dirty="0">
                <a:effectLst/>
                <a:latin typeface="Times New Roman" panose="02020603050405020304" pitchFamily="18" charset="0"/>
                <a:ea typeface="Times New Roman" panose="02020603050405020304" pitchFamily="18" charset="0"/>
              </a:rPr>
              <a:t>, D., &amp; Iyengar, S. (2017). A Survey on Malware Detection Using Data</a:t>
            </a:r>
            <a:r>
              <a:rPr lang="en-US" sz="1800" spc="-3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Mining</a:t>
            </a:r>
            <a:r>
              <a:rPr lang="en-US" sz="1800" spc="-2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Techniques.</a:t>
            </a:r>
            <a:r>
              <a:rPr lang="en-US" sz="1800" spc="-1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ACM</a:t>
            </a:r>
            <a:r>
              <a:rPr lang="en-US" sz="1800" spc="-3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Computing</a:t>
            </a:r>
            <a:r>
              <a:rPr lang="en-US" sz="1800" spc="-2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Surveys,</a:t>
            </a:r>
            <a:r>
              <a:rPr lang="en-US" sz="1800" spc="-1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50(3),</a:t>
            </a:r>
            <a:r>
              <a:rPr lang="en-US" sz="1800" spc="-1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1-40.</a:t>
            </a:r>
            <a:r>
              <a:rPr lang="en-US" sz="1800" spc="-35" dirty="0">
                <a:effectLst/>
                <a:latin typeface="Times New Roman" panose="02020603050405020304" pitchFamily="18" charset="0"/>
                <a:ea typeface="Times New Roman" panose="02020603050405020304" pitchFamily="18" charset="0"/>
              </a:rPr>
              <a:t> </a:t>
            </a:r>
            <a:r>
              <a:rPr lang="en-US" sz="1800" u="none" strike="noStrike" spc="0" dirty="0">
                <a:solidFill>
                  <a:srgbClr val="0000FF"/>
                </a:solidFill>
                <a:effectLst/>
                <a:latin typeface="Times New Roman" panose="02020603050405020304" pitchFamily="18" charset="0"/>
                <a:ea typeface="Times New Roman" panose="02020603050405020304" pitchFamily="18" charset="0"/>
                <a:hlinkClick r:id="rId5"/>
              </a:rPr>
              <a:t>https://doi.org/10.1145/3054920</a:t>
            </a:r>
            <a:endParaRPr lang="en-US" sz="1800" spc="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7815850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end Professional Thank You Notes ...">
            <a:extLst>
              <a:ext uri="{FF2B5EF4-FFF2-40B4-BE49-F238E27FC236}">
                <a16:creationId xmlns:a16="http://schemas.microsoft.com/office/drawing/2014/main" id="{C424E961-9A78-EB7B-7F94-861131DCC5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109" y="462116"/>
            <a:ext cx="11149781" cy="62041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13562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160</TotalTime>
  <Words>1723</Words>
  <Application>Microsoft Office PowerPoint</Application>
  <PresentationFormat>Widescreen</PresentationFormat>
  <Paragraphs>92</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Calibri Light</vt:lpstr>
      <vt:lpstr>Symbol</vt:lpstr>
      <vt:lpstr>Times New Roman</vt:lpstr>
      <vt:lpstr>Wingdings</vt:lpstr>
      <vt:lpstr>Office Theme</vt:lpstr>
      <vt:lpstr>Malla Reddy Engineering college</vt:lpstr>
      <vt:lpstr>ABSTRACT</vt:lpstr>
      <vt:lpstr>INTRODUCTION</vt:lpstr>
      <vt:lpstr>EXISTING SYSTEM</vt:lpstr>
      <vt:lpstr>DRAWBACKS OF EXISTING SYSTEM</vt:lpstr>
      <vt:lpstr>PROPOSED SYSTEM</vt:lpstr>
      <vt:lpstr>ADVANTAGES OF PROPOSED SYSTEM</vt:lpstr>
      <vt:lpstr>PowerPoint Presentation</vt:lpstr>
      <vt:lpstr>SOFTWARE AND HARDWARE REQUIREMENTS</vt:lpstr>
      <vt:lpstr>DATA FLOW DIAGRAM:</vt:lpstr>
      <vt:lpstr>RESULT:</vt:lpstr>
      <vt:lpstr>PowerPoint Presentation</vt:lpstr>
      <vt:lpstr>CONCLUSION</vt:lpstr>
      <vt:lpstr>FUTURE SCOPE</vt:lpstr>
      <vt:lpstr>REFERENCE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Divya Reddy gujjula</dc:creator>
  <cp:lastModifiedBy>Chetan Rathod</cp:lastModifiedBy>
  <cp:revision>9</cp:revision>
  <dcterms:created xsi:type="dcterms:W3CDTF">2025-04-28T15:33:00Z</dcterms:created>
  <dcterms:modified xsi:type="dcterms:W3CDTF">2026-04-25T06:00:14Z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59382294F44B4831BDDEB2C90B9718E6_12</vt:lpwstr>
  </property>
  <property fmtid="{D5CDD505-2E9C-101B-9397-08002B2CF9AE}" pid="3" name="KSOProductBuildVer">
    <vt:lpwstr>1033-12.2.0.20326</vt:lpwstr>
  </property>
</Properties>
</file>